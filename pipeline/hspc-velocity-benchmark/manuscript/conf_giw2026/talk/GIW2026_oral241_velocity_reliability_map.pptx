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Good morning. I am Ka-Kyung Kim. This is joint work with Jaemyun Lyu, Geongyu Lee, Sejin Park and Yong Gi Ji, carried out in Pseudo Lab, an open research community in Seoul. The talk is about a simple question: which numbers that RNA velocity methods give us per gene can we actually trust?</a:t>
            </a:r>
          </a:p>
          <a:p/>
          <a:p>
            <a:r>
              <a:t>Transition</a:t>
            </a:r>
          </a:p>
          <a:p>
            <a:r>
              <a:t>Let me start with why that question matters.</a:t>
            </a:r>
          </a:p>
          <a:p/>
          <a:p>
            <a:r>
              <a:t>Objective</a:t>
            </a:r>
          </a:p>
          <a:p>
            <a:r>
              <a:t>Introduce the talk and the speaker.</a:t>
            </a:r>
          </a:p>
          <a:p/>
          <a:p>
            <a:r>
              <a:t>Visual cue</a:t>
            </a:r>
          </a:p>
          <a:p>
            <a:r>
              <a:t>Title and author line.</a:t>
            </a:r>
          </a:p>
          <a:p/>
          <a:p>
            <a:r>
              <a:t>Source and caveats</a:t>
            </a:r>
          </a:p>
          <a:p>
            <a:r>
              <a:t>Talk based on the GIW/ISCB-Asia 2026 long abstract, submission 241.</a:t>
            </a:r>
          </a:p>
          <a:p/>
          <a:p>
            <a:r>
              <a:t>Type: main</a:t>
            </a:r>
          </a:p>
          <a:p>
            <a:r>
              <a:t>Estimated seconds: 25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Multiome velocity methods read spliced and unspliced RNA together with chromatin accessibility from the same cell, and fit a kinetic model for every gene. Out of that fit come several per-gene quantities: a transcription rate alpha, a degradation rate gamma, a chromatin opening rate alpha c, and a chromatin-to-transcription lag that is often read as a clock for regulatory timing. Each of these is offered as a biological readout. Our own starting point was practical: we wanted to use the lag as a feature, to ask whether genes that are primed early respond earlier to an epigenetic drug. Before doing that, we had to know whether the lag is reliable. Recent benchmarks score velocity at the level of the embedding and the transition vectors. They do not sort the per-gene outputs by reliability, and they do not anchor them to an external measurement.</a:t>
            </a:r>
          </a:p>
          <a:p/>
          <a:p>
            <a:r>
              <a:t>Transition</a:t>
            </a:r>
          </a:p>
          <a:p>
            <a:r>
              <a:t>So what does reliable mean, and how can it be tested?</a:t>
            </a:r>
          </a:p>
          <a:p/>
          <a:p>
            <a:r>
              <a:t>Objective</a:t>
            </a:r>
          </a:p>
          <a:p>
            <a:r>
              <a:t>Motivate the reliability question.</a:t>
            </a:r>
          </a:p>
          <a:p/>
          <a:p>
            <a:r>
              <a:t>Visual cue</a:t>
            </a:r>
          </a:p>
          <a:p>
            <a:r>
              <a:t>Point to the four outputs, then to the question line.</a:t>
            </a:r>
          </a:p>
          <a:p/>
          <a:p>
            <a:r>
              <a:t>Source and caveats</a:t>
            </a:r>
          </a:p>
          <a:p>
            <a:r>
              <a:t>Background of the long abstract; recent benchmarks: Luo 2026, Huang 2026, Wu 2026.</a:t>
            </a:r>
          </a:p>
          <a:p/>
          <a:p>
            <a:r>
              <a:t>Type: main</a:t>
            </a:r>
          </a:p>
          <a:p>
            <a:r>
              <a:t>Estimated seconds: 65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We call a per-gene output reliable if it passes four tests. First, cross-method reproducibility: two reasonable methods run on the same cells should rank the genes the same way. We test this with rank correlation and a gene-label permutation test. Second, a within-lineage ATAC shuffle: we permute chromatin profiles across cells inside each lineage, which destroys the pairing between a cell's chromatin and its own RNA, and refit. Third, replication in five external multiome datasets, from same-tissue bone marrow to mouse gastrulation; the last one was tested against predictions sealed before fitting. Fourth, external anchoring: we compare the fitted alpha with measured synthesis rates and the fitted gamma with measured mRNA half-lives, always against transcript abundance as a competing baseline. The primary data are human hematopoietic stem and progenitor cells, about twenty-two thousand cells, run through five velocity arms after one common preprocessing.</a:t>
            </a:r>
          </a:p>
          <a:p/>
          <a:p>
            <a:r>
              <a:t>Transition</a:t>
            </a:r>
          </a:p>
          <a:p>
            <a:r>
              <a:t>One detail turned out to matter a lot: what each method calls the lag.</a:t>
            </a:r>
          </a:p>
          <a:p/>
          <a:p>
            <a:r>
              <a:t>Objective</a:t>
            </a:r>
          </a:p>
          <a:p>
            <a:r>
              <a:t>Explain the protocol before any result.</a:t>
            </a:r>
          </a:p>
          <a:p/>
          <a:p>
            <a:r>
              <a:t>Visual cue</a:t>
            </a:r>
          </a:p>
          <a:p>
            <a:r>
              <a:t>Walk left to right across the four columns, then point at the data strip.</a:t>
            </a:r>
          </a:p>
          <a:p/>
          <a:p>
            <a:r>
              <a:t>Source and caveats</a:t>
            </a:r>
          </a:p>
          <a:p>
            <a:r>
              <a:t>Methods of the long abstract. GSE209878, day 0 and day 7 integrated, 21,878 cells.</a:t>
            </a:r>
          </a:p>
          <a:p/>
          <a:p>
            <a:r>
              <a:t>Type: main</a:t>
            </a:r>
          </a:p>
          <a:p>
            <a:r>
              <a:t>Estimated seconds: 70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The word lag hides different quantities. In MultiVelo, the gap between chromatin opening and the start of transcription is the priming interval, t switch one. The duration from t switch one to t switch two is something else: the time the gene spends with chromatin open and transcription on. We report the priming interval as the main definition and the coupled-on duration as a sensitivity analysis. MultiVeloVAE does not fit switch times; the closest quantity is a rate proxy, one over alpha c minus one over alpha. MoFlow and CRAK-Velo give offsets through dynamic time warping. Because no two of these are the same object, we compared every definition we could compute, and we also applied one identical formula to both MultiVelo and MultiVeloVAE.</a:t>
            </a:r>
          </a:p>
          <a:p/>
          <a:p>
            <a:r>
              <a:t>Transition</a:t>
            </a:r>
          </a:p>
          <a:p>
            <a:r>
              <a:t>Here is what happens when we compare them on the same genes.</a:t>
            </a:r>
          </a:p>
          <a:p/>
          <a:p>
            <a:r>
              <a:t>Objective</a:t>
            </a:r>
          </a:p>
          <a:p>
            <a:r>
              <a:t>Make the comparison fair before showing it.</a:t>
            </a:r>
          </a:p>
          <a:p/>
          <a:p>
            <a:r>
              <a:t>Visual cue</a:t>
            </a:r>
          </a:p>
          <a:p>
            <a:r>
              <a:t>Read down the method column; stress the MultiVelo row.</a:t>
            </a:r>
          </a:p>
          <a:p/>
          <a:p>
            <a:r>
              <a:t>Source and caveats</a:t>
            </a:r>
          </a:p>
          <a:p>
            <a:r>
              <a:t>Li 2023 (MultiVelo), Li 2025 (MultiVeloVAE), Hong 2025 (MoFlow), El Kazwini 2026 (CRAK-Velo).</a:t>
            </a:r>
          </a:p>
          <a:p/>
          <a:p>
            <a:r>
              <a:t>Type: main</a:t>
            </a:r>
          </a:p>
          <a:p>
            <a:r>
              <a:t>Estimated seconds: 60</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On the left, alpha from MultiVelo against alpha from MultiVeloVAE on 538 shared genes. The Spearman correlation is 0.882, and the RNA-only scVelo floor agrees with both at 0.82 to 0.89. On the right, every row is one output, with its 95 percent interval. Alpha c, the chromatin opening rate, reaches only 0.29. For the lag, the best case is MultiVelo's priming interval against the MultiVeloVAE rate proxy, at 0.364. The coupled-on duration gives 0.163. Using one identical formula in both methods does not help: 0.124 signed, essentially zero in magnitude. Against MoFlow, the priming interval gives 0.038, with an interval that includes zero. The column on the far right is the difference from alpha on the same bootstrap draw. Every contrast excludes zero; the smallest is 0.518.</a:t>
            </a:r>
          </a:p>
          <a:p/>
          <a:p>
            <a:r>
              <a:t>Transition</a:t>
            </a:r>
          </a:p>
          <a:p>
            <a:r>
              <a:t>A natural objection is that genes are not independent, or that this is a formula artifact.</a:t>
            </a:r>
          </a:p>
          <a:p/>
          <a:p>
            <a:r>
              <a:t>Objective</a:t>
            </a:r>
          </a:p>
          <a:p>
            <a:r>
              <a:t>Deliver the main result with its uncertainty.</a:t>
            </a:r>
          </a:p>
          <a:p/>
          <a:p>
            <a:r>
              <a:t>Visual cue</a:t>
            </a:r>
          </a:p>
          <a:p>
            <a:r>
              <a:t>Left panel first, then the alpha row at the top of the right panel, then the lag rows.</a:t>
            </a:r>
          </a:p>
          <a:p/>
          <a:p>
            <a:r>
              <a:t>Source and caveats</a:t>
            </a:r>
          </a:p>
          <a:p>
            <a:r>
              <a:t>Long abstract Figure 1; harmonized sensitivity analyses on 538 genes, B=10,000.</a:t>
            </a:r>
          </a:p>
          <a:p/>
          <a:p>
            <a:r>
              <a:t>Type: main</a:t>
            </a:r>
          </a:p>
          <a:p>
            <a:r>
              <a:t>Estimated seconds: 85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Genes in the same co-expression module are not independent draws, so we also resampled whole modules instead of single genes. With ten to one hundred modules, the alpha-minus-lag difference stays at 0.72 and its lower bound never falls below 0.58. Second, direction. If chromatin systematically opened before transcription, methods should at least agree on the sign of the lag. They agree for 54.6 percent of 560 genes, and the fraction of genes where chromatin leads sits between 41 and 49 percent depending on the method. So a genome-wide statement that chromatin primes transcription is not supported by these outputs. Third, within-method noise. Refitting MultiVelo on twelve overlapping 70 percent subsamples gives a moderately stable coupled-on duration, 0.624, against 0.949 for alpha. So the failure is reproducibility across methods and definitions, not necessarily within-method noise, at least for the coupled-on duration; the priming interval was not refit-tested.</a:t>
            </a:r>
          </a:p>
          <a:p/>
          <a:p>
            <a:r>
              <a:t>Transition</a:t>
            </a:r>
          </a:p>
          <a:p>
            <a:r>
              <a:t>What happens when we break the pairing between each cell's chromatin and its RNA?</a:t>
            </a:r>
          </a:p>
          <a:p/>
          <a:p>
            <a:r>
              <a:t>Objective</a:t>
            </a:r>
          </a:p>
          <a:p>
            <a:r>
              <a:t>Show the contrast is not an artifact.</a:t>
            </a:r>
          </a:p>
          <a:p/>
          <a:p>
            <a:r>
              <a:t>Visual cue</a:t>
            </a:r>
          </a:p>
          <a:p>
            <a:r>
              <a:t>One row at a time, top to bottom.</a:t>
            </a:r>
          </a:p>
          <a:p/>
          <a:p>
            <a:r>
              <a:t>Source and caveats</a:t>
            </a:r>
          </a:p>
          <a:p>
            <a:r>
              <a:t>Co-expression module bootstrap (coupled-on duration); long abstract Results.</a:t>
            </a:r>
          </a:p>
          <a:p/>
          <a:p>
            <a:r>
              <a:t>Type: main</a:t>
            </a:r>
          </a:p>
          <a:p>
            <a:r>
              <a:t>Estimated seconds: 65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Here we permuted ATAC profiles across cells within each lineage and refitted MultiVelo. The distribution of the priming interval does not change: Mann-Whitney p 0.65, Kolmogorov-Smirnov p 0.46. On the right, each dot is a gene, observed against shuffled. The per-gene ranking is preserved, with a Spearman correlation of 0.753; the coupled-on duration behaves the same way at 0.72. The chromatin likelihood itself barely moves, 0.239 to 0.237. So the fitted lag depends little on which cell's chromatin is paired with which cell's RNA. I want to be careful about what this does not show. The shuffle keeps the chromatin distribution of each lineage, so it does not show that chromatin contributes nothing. At the level of the cell-by-gene velocity matrix, which is a separate target, we do see a small, bounded chromatin contribution.</a:t>
            </a:r>
          </a:p>
          <a:p/>
          <a:p>
            <a:r>
              <a:t>Transition</a:t>
            </a:r>
          </a:p>
          <a:p>
            <a:r>
              <a:t>Is any of this specific to hematopoiesis?</a:t>
            </a:r>
          </a:p>
          <a:p/>
          <a:p>
            <a:r>
              <a:t>Objective</a:t>
            </a:r>
          </a:p>
          <a:p>
            <a:r>
              <a:t>Show the cell-level pairing control and what it does not prove.</a:t>
            </a:r>
          </a:p>
          <a:p/>
          <a:p>
            <a:r>
              <a:t>Visual cue</a:t>
            </a:r>
          </a:p>
          <a:p>
            <a:r>
              <a:t>Left panel: overlap of the two histograms. Right panel: points along the diagonal.</a:t>
            </a:r>
          </a:p>
          <a:p/>
          <a:p>
            <a:r>
              <a:t>Source and caveats</a:t>
            </a:r>
          </a:p>
          <a:p>
            <a:r>
              <a:t>Priming-interval recomputation (single shuffle realization, 538 genes); ATAC shuffle in the findings ledger.</a:t>
            </a:r>
          </a:p>
          <a:p/>
          <a:p>
            <a:r>
              <a:t>Type: main</a:t>
            </a:r>
          </a:p>
          <a:p>
            <a:r>
              <a:t>Estimated seconds: 70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We repeated the analysis in five external multiomes, ordered roughly by distance from bone marrow. Within each dataset, alpha agrees across methods at 0.81 to 0.93, and the lag magnitude stays between minus 0.09 and plus 0.07. On the same gene pairs, alpha minus lag is 0.843 in macrophages and 0.979 in gastrulation, with intervals well above zero. When we match genes across datasets, from HSPC to each external system, alpha still reproduces, decaying from 0.64 in HSPC-derived macrophages to 0.32 in E18 mouse brain, while the lag stays at 0.03 to 0.19. Mouse gastrulation is special: it is where lineage priming is strongest, and it is the one system we tested by preregistration. We sealed six predictions before any fit, including thresholds such as alpha agreement of at least 0.50, and all six passed. The other systems were not preregistered. Each external replication is a single sample, and the cross-dataset alpha intervals overlap, so the ordering by tissue distance is qualitative.</a:t>
            </a:r>
          </a:p>
          <a:p/>
          <a:p>
            <a:r>
              <a:t>Transition</a:t>
            </a:r>
          </a:p>
          <a:p>
            <a:r>
              <a:t>Reproducible is not the same as accurate. So we turned to measured rates.</a:t>
            </a:r>
          </a:p>
          <a:p/>
          <a:p>
            <a:r>
              <a:t>Objective</a:t>
            </a:r>
          </a:p>
          <a:p>
            <a:r>
              <a:t>Show the ordering holds outside HSPC.</a:t>
            </a:r>
          </a:p>
          <a:p/>
          <a:p>
            <a:r>
              <a:t>Visual cue</a:t>
            </a:r>
          </a:p>
          <a:p>
            <a:r>
              <a:t>Within-dataset columns first, then cross-dataset columns, then the gastrulation row and the callout.</a:t>
            </a:r>
          </a:p>
          <a:p/>
          <a:p>
            <a:r>
              <a:t>Source and caveats</a:t>
            </a:r>
          </a:p>
          <a:p>
            <a:r>
              <a:t>Manuscript Table 1; preregistration sealed 2026-07-12 (mouse gastrulation, GSE205117).</a:t>
            </a:r>
          </a:p>
          <a:p/>
          <a:p>
            <a:r>
              <a:t>Type: main</a:t>
            </a:r>
          </a:p>
          <a:p>
            <a:r>
              <a:t>Estimated seconds: 75</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Alpha is one of only two outputs with a laboratory counterpart. Fitted alpha tracks the synthesis rate measured by TT-seq in K562 cells in all three methods, between 0.24 and 0.29, with intervals that exclude zero. But a second, independent synthesis source was null. And steady-state transcript abundance, which every method sees, tracks the measured synthesis at 0.41, at least as strongly as alpha. So this is consistency evidence, not proof that alpha is the better synthesis estimator. What does survive is the reproducibility of alpha beyond abundance: after removing mean expression from both methods' alpha, their agreement is still 0.715, while the lag stays at 0.18. Alpha therefore carries a method-independent component beyond expression level. Whether that component is kinetic has not been shown; it may come from the unspliced and spliced counts that both methods read.</a:t>
            </a:r>
          </a:p>
          <a:p/>
          <a:p>
            <a:r>
              <a:t>Transition</a:t>
            </a:r>
          </a:p>
          <a:p>
            <a:r>
              <a:t>The degradation rate is the other output with a measured counterpart.</a:t>
            </a:r>
          </a:p>
          <a:p/>
          <a:p>
            <a:r>
              <a:t>Objective</a:t>
            </a:r>
          </a:p>
          <a:p>
            <a:r>
              <a:t>Say what the external match does and does not establish.</a:t>
            </a:r>
          </a:p>
          <a:p/>
          <a:p>
            <a:r>
              <a:t>Visual cue</a:t>
            </a:r>
          </a:p>
          <a:p>
            <a:r>
              <a:t>Compare the three alpha bars with the abundance bar, then read the right column.</a:t>
            </a:r>
          </a:p>
          <a:p/>
          <a:p>
            <a:r>
              <a:t>Source and caveats</a:t>
            </a:r>
          </a:p>
          <a:p>
            <a:r>
              <a:t>K562 TT-seq synthesis rates, non-housekeeping genes (GSE229305); Schwalb 2016 TT-seq. The +0.715 and +0.182 come from the abundance-controlled sensitivity analysis; the lag there is the coupled-on duration.</a:t>
            </a:r>
          </a:p>
          <a:p/>
          <a:p>
            <a:r>
              <a:t>Type: main</a:t>
            </a:r>
          </a:p>
          <a:p>
            <a:r>
              <a:t>Estimated seconds: 70</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For gamma we have measured mRNA half-lives in three cell lines. Across three methods and three lines, only one of nine cells recovers gamma, weakly. The textbook scVelo gamma, from the RNA-only floor, runs in the wrong direction in the cleanest reference, MOLM13, at minus 0.224: genes with larger fitted degradation have longer measured half-lives. Gamma is also fragile across methods, around minus 0.11.</a:t>
            </a:r>
          </a:p>
          <a:p/>
          <a:p>
            <a:r>
              <a:t>Transition</a:t>
            </a:r>
          </a:p>
          <a:p>
            <a:r>
              <a:t>Let me put all of this together.</a:t>
            </a:r>
          </a:p>
          <a:p/>
          <a:p>
            <a:r>
              <a:t>Objective</a:t>
            </a:r>
          </a:p>
          <a:p>
            <a:r>
              <a:t>Close the accuracy axis for γ.</a:t>
            </a:r>
          </a:p>
          <a:p/>
          <a:p>
            <a:r>
              <a:t>Visual cue</a:t>
            </a:r>
          </a:p>
          <a:p>
            <a:r>
              <a:t>Point to the MOLM13 column and the scVelo row.</a:t>
            </a:r>
          </a:p>
          <a:p/>
          <a:p>
            <a:r>
              <a:t>Source and caveats</a:t>
            </a:r>
          </a:p>
          <a:p>
            <a:r>
              <a:t>External rate validation, non-housekeeping genes; K562 and THP1 half-lives from Todorovski, MOLM13 from RNADecayCafe.</a:t>
            </a:r>
          </a:p>
          <a:p/>
          <a:p>
            <a:r>
              <a:t>Type: main</a:t>
            </a:r>
          </a:p>
          <a:p>
            <a:r>
              <a:t>Estimated seconds: 35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This map keeps two kinds of evidence apart. Reproducibility asks whether two reasonable methods, run on the same cells, rank genes the same way. Accuracy asks whether the number has been compared with a laboratory measurement of the same rate, and with what result. Transcript abundance sits on top as the reference baseline. Alpha is the only per-gene output that is reproducible, including beyond abundance; its accuracy beyond abundance is not shown. Two further outputs are usable only as population statements: the near fifty-fifty directional balance, and the agreement of canonical priming markers, which is correlational. The chromatin opening rate, gamma, and the per-gene lag, its sign and its timing, under every definition we tested, are not reproducible. The last column turns this into a decision for each output.</a:t>
            </a:r>
          </a:p>
          <a:p/>
          <a:p>
            <a:r>
              <a:t>Transition</a:t>
            </a:r>
          </a:p>
          <a:p>
            <a:r>
              <a:t>Here is that decision as a rule.</a:t>
            </a:r>
          </a:p>
          <a:p/>
          <a:p>
            <a:r>
              <a:t>Objective</a:t>
            </a:r>
          </a:p>
          <a:p>
            <a:r>
              <a:t>Summarize every output on reproducibility and accuracy separately.</a:t>
            </a:r>
          </a:p>
          <a:p/>
          <a:p>
            <a:r>
              <a:t>Visual cue</a:t>
            </a:r>
          </a:p>
          <a:p>
            <a:r>
              <a:t>Read the column headers, then the abundance row, then the alpha row, then the red block.</a:t>
            </a:r>
          </a:p>
          <a:p/>
          <a:p>
            <a:r>
              <a:t>Source and caveats</a:t>
            </a:r>
          </a:p>
          <a:p>
            <a:r>
              <a:t>Long abstract Figure 2.</a:t>
            </a:r>
          </a:p>
          <a:p/>
          <a:p>
            <a:r>
              <a:t>Type: main</a:t>
            </a:r>
          </a:p>
          <a:p>
            <a:r>
              <a:t>Estimated seconds: 70</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If you want to use velocity outputs as features, enter transcript abundance first. Add alpha only as the part that is orthogonal to abundance, and keep it only if held-out performance improves. Do not consume a single-method lag, its sign, or gamma without an orthogonal measurement. The held-out data support this order. On held-out lineages, abundance alone predicts alpha at 0.72; day-0 chromatin accessibility predicts alpha at 0.31, but adding it to abundance changes the correlation by minus 0.016. The same accessibility features do not predict the lag, here the coupled-on duration, at around 0.05.</a:t>
            </a:r>
          </a:p>
          <a:p/>
          <a:p>
            <a:r>
              <a:t>Transition</a:t>
            </a:r>
          </a:p>
          <a:p>
            <a:r>
              <a:t>To close.</a:t>
            </a:r>
          </a:p>
          <a:p/>
          <a:p>
            <a:r>
              <a:t>Objective</a:t>
            </a:r>
          </a:p>
          <a:p>
            <a:r>
              <a:t>Make the map usable.</a:t>
            </a:r>
          </a:p>
          <a:p/>
          <a:p>
            <a:r>
              <a:t>Visual cue</a:t>
            </a:r>
          </a:p>
          <a:p>
            <a:r>
              <a:t>Three steps on the left, numbers on the right.</a:t>
            </a:r>
          </a:p>
          <a:p/>
          <a:p>
            <a:r>
              <a:t>Source and caveats</a:t>
            </a:r>
          </a:p>
          <a:p>
            <a:r>
              <a:t>Held-out lineage prediction of alpha with abundance control; held-out prediction of the lag.</a:t>
            </a:r>
          </a:p>
          <a:p/>
          <a:p>
            <a:r>
              <a:t>Type: main</a:t>
            </a:r>
          </a:p>
          <a:p>
            <a:r>
              <a:t>Estimated seconds: 45</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Three points. Reliability of a velocity output is testable, on four axes. Among the per-gene outputs, only alpha passes reproducibility, and its accuracy beyond abundance is still open. The lag does not reproduce under any definition we tested, so treat it as a model output that needs orthogonal validation, not as a regulatory clock. The limits are on the slide: pseudotime is not wall-clock time, the external replications are single samples, the alpha anchor is one of two sources and was measured in K562, and we audited per-gene parameters, not trajectories. Thank you. I am happy to take questions.</a:t>
            </a:r>
          </a:p>
          <a:p/>
          <a:p>
            <a:r>
              <a:t>Transition</a:t>
            </a:r>
          </a:p>
          <a:p>
            <a:r>
              <a:t>Questions.</a:t>
            </a:r>
          </a:p>
          <a:p/>
          <a:p>
            <a:r>
              <a:t>Objective</a:t>
            </a:r>
          </a:p>
          <a:p>
            <a:r>
              <a:t>Close with the contribution and its limits.</a:t>
            </a:r>
          </a:p>
          <a:p/>
          <a:p>
            <a:r>
              <a:t>Visual cue</a:t>
            </a:r>
          </a:p>
          <a:p>
            <a:r>
              <a:t>Three take-home lines, then the limits.</a:t>
            </a:r>
          </a:p>
          <a:p/>
          <a:p>
            <a:r>
              <a:t>Source and caveats</a:t>
            </a:r>
          </a:p>
          <a:p>
            <a:r>
              <a:t>Conclusion of the long abstract.</a:t>
            </a:r>
          </a:p>
          <a:p/>
          <a:p>
            <a:r>
              <a:t>Type: main</a:t>
            </a:r>
          </a:p>
          <a:p>
            <a:r>
              <a:t>Estimated seconds: 45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In log coordinates on MultiVelo's objective, alpha is located more tightly than the lag: median curvature ratio 3.53, alpha tighter in 95 percent of 258 interior-lag genes. Expressing the lag as a fraction of the pseudotime horizon reverses the ratio to 0.10. So we claim cross-method non-reproducibility, not strict non-identifiability. Most boundary-pinned lags, 199 of 205, come from induction-only fits.</a:t>
            </a:r>
          </a:p>
          <a:p/>
          <a:p>
            <a:r>
              <a:t>Transition</a:t>
            </a:r>
          </a:p>
          <a:p>
            <a:r>
              <a:t>Back to questions.</a:t>
            </a:r>
          </a:p>
          <a:p/>
          <a:p>
            <a:r>
              <a:t>Objective</a:t>
            </a:r>
          </a:p>
          <a:p>
            <a:r>
              <a:t>Answer: is the lag simply non-identifiable?</a:t>
            </a:r>
          </a:p>
          <a:p/>
          <a:p>
            <a:r>
              <a:t>Visual cue</a:t>
            </a:r>
          </a:p>
          <a:p>
            <a:r>
              <a:t>Table first.</a:t>
            </a:r>
          </a:p>
          <a:p/>
          <a:p>
            <a:r>
              <a:t>Source and caveats</a:t>
            </a:r>
          </a:p>
          <a:p>
            <a:r>
              <a:t>Profile-likelihood sensitivity analysis (fixed nuisance parameters, 258 genes). Lag here is the coupled-on duration.</a:t>
            </a:r>
          </a:p>
          <a:p/>
          <a:p>
            <a:r>
              <a:t>Type: backup</a:t>
            </a:r>
          </a:p>
          <a:p>
            <a:r>
              <a:t>Estimated seconds: 0</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On the 537 genes shared by MultiVelo, MultiVeloVAE and MoFlow, lag magnitude agreement is 0.165, minus 0.013 and minus 0.064 for the three pairs, while alpha agrees at 0.882. The signed VAE against MoFlow comparison reaches 0.107.</a:t>
            </a:r>
          </a:p>
          <a:p/>
          <a:p>
            <a:r>
              <a:t>Transition</a:t>
            </a:r>
          </a:p>
          <a:p>
            <a:r>
              <a:t>Back to questions.</a:t>
            </a:r>
          </a:p>
          <a:p/>
          <a:p>
            <a:r>
              <a:t>Objective</a:t>
            </a:r>
          </a:p>
          <a:p>
            <a:r>
              <a:t>Answer: maybe another method pair agrees.</a:t>
            </a:r>
          </a:p>
          <a:p/>
          <a:p>
            <a:r>
              <a:t>Visual cue</a:t>
            </a:r>
          </a:p>
          <a:p>
            <a:r>
              <a:t>Lag rows against the alpha row.</a:t>
            </a:r>
          </a:p>
          <a:p/>
          <a:p>
            <a:r>
              <a:t>Source and caveats</a:t>
            </a:r>
          </a:p>
          <a:p>
            <a:r>
              <a:t>Three-method sensitivity analysis, B=10,000. MultiVelo lag here is the coupled-on duration.</a:t>
            </a:r>
          </a:p>
          <a:p/>
          <a:p>
            <a:r>
              <a:t>Type: backup</a:t>
            </a:r>
          </a:p>
          <a:p>
            <a:r>
              <a:t>Estimated seconds: 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Fetal cortex is missing here because it has no MultiVeloVAE fit. Top row: alpha rank against alpha rank in each system. Bottom row: lag magnitude. The lag here is MultiVelo's coupled-on duration against the MultiVeloVAE rate proxy; the priming-interval definition was recomputed in HSPC only.</a:t>
            </a:r>
          </a:p>
          <a:p/>
          <a:p>
            <a:r>
              <a:t>Transition</a:t>
            </a:r>
          </a:p>
          <a:p>
            <a:r>
              <a:t>Back to questions.</a:t>
            </a:r>
          </a:p>
          <a:p/>
          <a:p>
            <a:r>
              <a:t>Objective</a:t>
            </a:r>
          </a:p>
          <a:p>
            <a:r>
              <a:t>Answer: show the external scatter.</a:t>
            </a:r>
          </a:p>
          <a:p/>
          <a:p>
            <a:r>
              <a:t>Visual cue</a:t>
            </a:r>
          </a:p>
          <a:p>
            <a:r>
              <a:t>Top row versus bottom row.</a:t>
            </a:r>
          </a:p>
          <a:p/>
          <a:p>
            <a:r>
              <a:t>Source and caveats</a:t>
            </a:r>
          </a:p>
          <a:p>
            <a:r>
              <a:t>Supplementary figure, per-dataset concordance.</a:t>
            </a:r>
          </a:p>
          <a:p/>
          <a:p>
            <a:r>
              <a:t>Type: backup</a:t>
            </a:r>
          </a:p>
          <a:p>
            <a:r>
              <a:t>Estimated seconds: 0</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Explanation</a:t>
            </a:r>
          </a:p>
          <a:p>
            <a:r>
              <a:t>The six predictions and thresholds were sealed on July 12, 2026, before any velocity fit on this dataset. The pairing used to score prediction five, MultiVelo against MoFlow for the lag, was fixed on July 13, still before any fit. The thresholds, not the HSPC observations, are the pass lines: for example alpha agreement of at least 0.50, while 0.88 in HSPC was only an observation.</a:t>
            </a:r>
          </a:p>
          <a:p/>
          <a:p>
            <a:r>
              <a:t>Transition</a:t>
            </a:r>
          </a:p>
          <a:p>
            <a:r>
              <a:t>Back to questions.</a:t>
            </a:r>
          </a:p>
          <a:p/>
          <a:p>
            <a:r>
              <a:t>Objective</a:t>
            </a:r>
          </a:p>
          <a:p>
            <a:r>
              <a:t>Answer: what exactly was preregistered?</a:t>
            </a:r>
          </a:p>
          <a:p/>
          <a:p>
            <a:r>
              <a:t>Visual cue</a:t>
            </a:r>
          </a:p>
          <a:p>
            <a:r>
              <a:t>Threshold column against the observed column.</a:t>
            </a:r>
          </a:p>
          <a:p/>
          <a:p>
            <a:r>
              <a:t>Source and caveats</a:t>
            </a:r>
          </a:p>
          <a:p>
            <a:r>
              <a:t>Preregistration sealed 2026-07-12; scorecard for GSE205117.</a:t>
            </a:r>
          </a:p>
          <a:p/>
          <a:p>
            <a:r>
              <a:t>Type: backup</a:t>
            </a:r>
          </a:p>
          <a:p>
            <a:r>
              <a:t>Estimated seconds: 0</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op-band"/>
          <p:cNvSpPr/>
          <p:nvPr/>
        </p:nvSpPr>
        <p:spPr>
          <a:xfrm>
            <a:off x="0" y="0"/>
            <a:ext cx="12191999" cy="146304"/>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venue"/>
          <p:cNvSpPr txBox="1"/>
          <p:nvPr/>
        </p:nvSpPr>
        <p:spPr>
          <a:xfrm>
            <a:off x="502920" y="566928"/>
            <a:ext cx="11186159" cy="365760"/>
          </a:xfrm>
          <a:prstGeom prst="rect">
            <a:avLst/>
          </a:prstGeom>
          <a:noFill/>
        </p:spPr>
        <p:txBody>
          <a:bodyPr wrap="square" lIns="18288" rIns="18288" tIns="18288" bIns="18288" anchor="t">
            <a:noAutofit/>
          </a:bodyPr>
          <a:lstStyle/>
          <a:p>
            <a:pPr algn="l">
              <a:spcAft>
                <a:spcPts val="400"/>
              </a:spcAft>
            </a:pPr>
            <a:r>
              <a:rPr sz="1800" b="1" lang="en-US">
                <a:solidFill>
                  <a:srgbClr val="2457C5"/>
                </a:solidFill>
                <a:latin typeface="Pretendard"/>
                <a:ea typeface="Pretendard"/>
                <a:cs typeface="Pretendard"/>
              </a:rPr>
              <a:t>GIW/ISCB-Asia 2026  ·  Oral presentation, submission 241</a:t>
            </a:r>
          </a:p>
        </p:txBody>
      </p:sp>
      <p:sp>
        <p:nvSpPr>
          <p:cNvPr id="4" name="title"/>
          <p:cNvSpPr txBox="1"/>
          <p:nvPr/>
        </p:nvSpPr>
        <p:spPr>
          <a:xfrm>
            <a:off x="502920" y="1143000"/>
            <a:ext cx="11186159" cy="1737360"/>
          </a:xfrm>
          <a:prstGeom prst="rect">
            <a:avLst/>
          </a:prstGeom>
          <a:noFill/>
        </p:spPr>
        <p:txBody>
          <a:bodyPr wrap="square" lIns="18288" rIns="18288" tIns="18288" bIns="18288" anchor="t">
            <a:noAutofit/>
          </a:bodyPr>
          <a:lstStyle/>
          <a:p>
            <a:pPr algn="l">
              <a:spcAft>
                <a:spcPts val="400"/>
              </a:spcAft>
            </a:pPr>
            <a:r>
              <a:rPr sz="4000" b="1" lang="en-US">
                <a:solidFill>
                  <a:srgbClr val="172033"/>
                </a:solidFill>
                <a:latin typeface="Pretendard"/>
                <a:ea typeface="Pretendard"/>
                <a:cs typeface="Pretendard"/>
              </a:rPr>
              <a:t>A reliability map for per-gene multiome RNA velocity parameters in single-cell kinetics</a:t>
            </a:r>
          </a:p>
        </p:txBody>
      </p:sp>
      <p:sp>
        <p:nvSpPr>
          <p:cNvPr id="5" name="authors"/>
          <p:cNvSpPr txBox="1"/>
          <p:nvPr/>
        </p:nvSpPr>
        <p:spPr>
          <a:xfrm>
            <a:off x="502920" y="3246120"/>
            <a:ext cx="11186159" cy="502920"/>
          </a:xfrm>
          <a:prstGeom prst="rect">
            <a:avLst/>
          </a:prstGeom>
          <a:noFill/>
        </p:spPr>
        <p:txBody>
          <a:bodyPr wrap="square" lIns="18288" rIns="18288" tIns="18288" bIns="18288" anchor="t">
            <a:noAutofit/>
          </a:bodyPr>
          <a:lstStyle/>
          <a:p>
            <a:pPr algn="l">
              <a:spcAft>
                <a:spcPts val="400"/>
              </a:spcAft>
            </a:pPr>
            <a:r>
              <a:rPr sz="2200" b="0" lang="en-US">
                <a:solidFill>
                  <a:srgbClr val="172033"/>
                </a:solidFill>
                <a:latin typeface="Pretendard"/>
                <a:ea typeface="Pretendard"/>
                <a:cs typeface="Pretendard"/>
              </a:rPr>
              <a:t/>
            </a:r>
            <a:r>
              <a:rPr sz="2200" b="1" i="0" lang="en-US">
                <a:solidFill>
                  <a:srgbClr val="172033"/>
                </a:solidFill>
                <a:latin typeface="Pretendard"/>
                <a:ea typeface="Pretendard"/>
                <a:cs typeface="Pretendard"/>
              </a:rPr>
              <a:t>Ka-Kyung Kim</a:t>
            </a:r>
            <a:r>
              <a:rPr sz="2200" b="1" i="0" lang="en-US">
                <a:solidFill>
                  <a:srgbClr val="172033"/>
                </a:solidFill>
                <a:latin typeface="Pretendard"/>
                <a:ea typeface="Pretendard"/>
                <a:cs typeface="Pretendard"/>
              </a:rPr>
              <a:t>¹ </a:t>
            </a:r>
            <a:r>
              <a:rPr sz="2200" b="0" i="0" lang="en-US">
                <a:solidFill>
                  <a:srgbClr val="172033"/>
                </a:solidFill>
                <a:latin typeface="Pretendard"/>
                <a:ea typeface="Pretendard"/>
                <a:cs typeface="Pretendard"/>
              </a:rPr>
              <a:t>(presenting),  Jaemyun Lyu²˒³,  Geongyu Lee¹˒⁴,  Sejin Park⁵,  Yong Gi Ji⁶</a:t>
            </a:r>
          </a:p>
        </p:txBody>
      </p:sp>
      <p:sp>
        <p:nvSpPr>
          <p:cNvPr id="6" name="affiliations"/>
          <p:cNvSpPr txBox="1"/>
          <p:nvPr/>
        </p:nvSpPr>
        <p:spPr>
          <a:xfrm>
            <a:off x="502920" y="3840480"/>
            <a:ext cx="11186159" cy="822960"/>
          </a:xfrm>
          <a:prstGeom prst="rect">
            <a:avLst/>
          </a:prstGeom>
          <a:noFill/>
        </p:spPr>
        <p:txBody>
          <a:bodyPr wrap="square" lIns="18288" rIns="18288" tIns="18288" bIns="18288" anchor="t">
            <a:noAutofit/>
          </a:bodyPr>
          <a:lstStyle/>
          <a:p>
            <a:pPr algn="l">
              <a:spcAft>
                <a:spcPts val="400"/>
              </a:spcAft>
            </a:pPr>
            <a:r>
              <a:rPr sz="1500" b="0" lang="en-US">
                <a:solidFill>
                  <a:srgbClr val="526174"/>
                </a:solidFill>
                <a:latin typeface="Pretendard"/>
                <a:ea typeface="Pretendard"/>
                <a:cs typeface="Pretendard"/>
              </a:rPr>
              <a:t>¹ Pseudo Lab, Seoul   ² R&amp;D Center, Genolution Inc., Seoul   ³ Laboratory of RNA Cell Biology, Department of Bioconvergence Engineering, Dankook University Graduate School, Yongin   ⁴ Omixai Co., Ltd., Seoul   ⁵ Seegene Inc., Seoul   ⁶ Qaumtum c&amp;s, Seoul   (all Republic of Korea)</a:t>
            </a:r>
          </a:p>
        </p:txBody>
      </p:sp>
      <p:sp>
        <p:nvSpPr>
          <p:cNvPr id="7" name="rule"/>
          <p:cNvSpPr/>
          <p:nvPr/>
        </p:nvSpPr>
        <p:spPr>
          <a:xfrm>
            <a:off x="502920" y="5074920"/>
            <a:ext cx="11186159" cy="10972"/>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date"/>
          <p:cNvSpPr txBox="1"/>
          <p:nvPr/>
        </p:nvSpPr>
        <p:spPr>
          <a:xfrm>
            <a:off x="502920" y="5230368"/>
            <a:ext cx="11186159" cy="411480"/>
          </a:xfrm>
          <a:prstGeom prst="rect">
            <a:avLst/>
          </a:prstGeom>
          <a:noFill/>
        </p:spPr>
        <p:txBody>
          <a:bodyPr wrap="square" lIns="18288" rIns="18288" tIns="18288" bIns="18288" anchor="t">
            <a:noAutofit/>
          </a:bodyPr>
          <a:lstStyle/>
          <a:p>
            <a:pPr algn="l">
              <a:spcAft>
                <a:spcPts val="400"/>
              </a:spcAft>
            </a:pPr>
            <a:r>
              <a:rPr sz="1800" b="0" lang="en-US">
                <a:solidFill>
                  <a:srgbClr val="526174"/>
                </a:solidFill>
                <a:latin typeface="Pretendard"/>
                <a:ea typeface="Pretendard"/>
                <a:cs typeface="Pretendard"/>
              </a:rPr>
              <a:t>Yonsei University, Seoul  ·  17–20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Velocity methods emit per-gene numbers that we read as biology</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Recent benchmarks score velocity at the embedding and transition level: Luo et al. 2026; Huang et al. 2026 (preprint); Wu et al. 2026.</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a:t>
            </a:r>
          </a:p>
        </p:txBody>
      </p:sp>
      <p:sp>
        <p:nvSpPr>
          <p:cNvPr id="6" name="box"/>
          <p:cNvSpPr/>
          <p:nvPr/>
        </p:nvSpPr>
        <p:spPr>
          <a:xfrm>
            <a:off x="502920" y="1785620"/>
            <a:ext cx="2971800" cy="224028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body"/>
          <p:cNvSpPr txBox="1"/>
          <p:nvPr/>
        </p:nvSpPr>
        <p:spPr>
          <a:xfrm>
            <a:off x="685800" y="1922780"/>
            <a:ext cx="2697480" cy="411480"/>
          </a:xfrm>
          <a:prstGeom prst="rect">
            <a:avLst/>
          </a:prstGeom>
          <a:noFill/>
        </p:spPr>
        <p:txBody>
          <a:bodyPr wrap="square" lIns="18288" rIns="18288" tIns="18288" bIns="18288" anchor="t">
            <a:noAutofit/>
          </a:bodyPr>
          <a:lstStyle/>
          <a:p>
            <a:pPr algn="l">
              <a:spcAft>
                <a:spcPts val="400"/>
              </a:spcAft>
            </a:pPr>
            <a:r>
              <a:rPr sz="1900" b="1" lang="en-US">
                <a:solidFill>
                  <a:srgbClr val="172033"/>
                </a:solidFill>
                <a:latin typeface="Pretendard"/>
                <a:ea typeface="Pretendard"/>
                <a:cs typeface="Pretendard"/>
              </a:rPr>
              <a:t>10x Multiome, per cell</a:t>
            </a:r>
          </a:p>
        </p:txBody>
      </p:sp>
      <p:sp>
        <p:nvSpPr>
          <p:cNvPr id="8" name="body"/>
          <p:cNvSpPr txBox="1"/>
          <p:nvPr/>
        </p:nvSpPr>
        <p:spPr>
          <a:xfrm>
            <a:off x="685800" y="2425700"/>
            <a:ext cx="2697480" cy="1554480"/>
          </a:xfrm>
          <a:prstGeom prst="rect">
            <a:avLst/>
          </a:prstGeom>
          <a:noFill/>
        </p:spPr>
        <p:txBody>
          <a:bodyPr wrap="square" lIns="18288" rIns="18288" tIns="18288" bIns="18288" anchor="t">
            <a:noAutofit/>
          </a:bodyPr>
          <a:lstStyle/>
          <a:p>
            <a:pPr algn="l">
              <a:spcAft>
                <a:spcPts val="400"/>
              </a:spcAft>
            </a:pPr>
            <a:r>
              <a:rPr sz="1700" b="0" lang="en-US">
                <a:solidFill>
                  <a:srgbClr val="526174"/>
                </a:solidFill>
                <a:latin typeface="Pretendard"/>
                <a:ea typeface="Pretendard"/>
                <a:cs typeface="Pretendard"/>
              </a:rPr>
              <a:t>unspliced RNA</a:t>
            </a:r>
          </a:p>
          <a:p>
            <a:pPr algn="l">
              <a:spcAft>
                <a:spcPts val="400"/>
              </a:spcAft>
            </a:pPr>
            <a:r>
              <a:rPr sz="1700" b="0" lang="en-US">
                <a:solidFill>
                  <a:srgbClr val="526174"/>
                </a:solidFill>
                <a:latin typeface="Pretendard"/>
                <a:ea typeface="Pretendard"/>
                <a:cs typeface="Pretendard"/>
              </a:rPr>
              <a:t>spliced RNA</a:t>
            </a:r>
          </a:p>
          <a:p>
            <a:pPr algn="l">
              <a:spcAft>
                <a:spcPts val="400"/>
              </a:spcAft>
            </a:pPr>
            <a:r>
              <a:rPr sz="1700" b="0" lang="en-US">
                <a:solidFill>
                  <a:srgbClr val="526174"/>
                </a:solidFill>
                <a:latin typeface="Pretendard"/>
                <a:ea typeface="Pretendard"/>
                <a:cs typeface="Pretendard"/>
              </a:rPr>
              <a:t>chromatin accessibility</a:t>
            </a:r>
          </a:p>
          <a:p>
            <a:pPr algn="l">
              <a:spcAft>
                <a:spcPts val="400"/>
              </a:spcAft>
            </a:pPr>
            <a:r>
              <a:rPr sz="1700" b="0" lang="en-US">
                <a:solidFill>
                  <a:srgbClr val="526174"/>
                </a:solidFill>
                <a:latin typeface="Pretendard"/>
                <a:ea typeface="Pretendard"/>
                <a:cs typeface="Pretendard"/>
              </a:rPr>
              <a:t>(ATAC)</a:t>
            </a:r>
          </a:p>
        </p:txBody>
      </p:sp>
      <p:cxnSp>
        <p:nvCxnSpPr>
          <p:cNvPr id="9" name="Connector 8"/>
          <p:cNvCxnSpPr/>
          <p:nvPr/>
        </p:nvCxnSpPr>
        <p:spPr>
          <a:xfrm>
            <a:off x="3520439" y="2901188"/>
            <a:ext cx="411481" cy="0"/>
          </a:xfrm>
          <a:prstGeom prst="line">
            <a:avLst/>
          </a:prstGeom>
          <a:ln w="28575">
            <a:solidFill>
              <a:srgbClr val="526174"/>
            </a:solidFill>
            <a:tailEnd type="triangle"/>
          </a:ln>
        </p:spPr>
        <p:style>
          <a:lnRef idx="2">
            <a:schemeClr val="accent1"/>
          </a:lnRef>
          <a:fillRef idx="0">
            <a:schemeClr val="accent1"/>
          </a:fillRef>
          <a:effectRef idx="1">
            <a:schemeClr val="accent1"/>
          </a:effectRef>
          <a:fontRef idx="minor">
            <a:schemeClr val="tx1"/>
          </a:fontRef>
        </p:style>
      </p:cxnSp>
      <p:sp>
        <p:nvSpPr>
          <p:cNvPr id="10" name="box"/>
          <p:cNvSpPr/>
          <p:nvPr/>
        </p:nvSpPr>
        <p:spPr>
          <a:xfrm>
            <a:off x="3977639" y="1785620"/>
            <a:ext cx="2971800" cy="224028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body"/>
          <p:cNvSpPr txBox="1"/>
          <p:nvPr/>
        </p:nvSpPr>
        <p:spPr>
          <a:xfrm>
            <a:off x="4160520" y="1922780"/>
            <a:ext cx="2697480" cy="411480"/>
          </a:xfrm>
          <a:prstGeom prst="rect">
            <a:avLst/>
          </a:prstGeom>
          <a:noFill/>
        </p:spPr>
        <p:txBody>
          <a:bodyPr wrap="square" lIns="18288" rIns="18288" tIns="18288" bIns="18288" anchor="t">
            <a:noAutofit/>
          </a:bodyPr>
          <a:lstStyle/>
          <a:p>
            <a:pPr algn="l">
              <a:spcAft>
                <a:spcPts val="400"/>
              </a:spcAft>
            </a:pPr>
            <a:r>
              <a:rPr sz="1900" b="1" lang="en-US">
                <a:solidFill>
                  <a:srgbClr val="172033"/>
                </a:solidFill>
                <a:latin typeface="Pretendard"/>
                <a:ea typeface="Pretendard"/>
                <a:cs typeface="Pretendard"/>
              </a:rPr>
              <a:t>Kinetic model per gene</a:t>
            </a:r>
          </a:p>
        </p:txBody>
      </p:sp>
      <p:sp>
        <p:nvSpPr>
          <p:cNvPr id="12" name="body"/>
          <p:cNvSpPr txBox="1"/>
          <p:nvPr/>
        </p:nvSpPr>
        <p:spPr>
          <a:xfrm>
            <a:off x="4160520" y="2425700"/>
            <a:ext cx="2697480" cy="1463040"/>
          </a:xfrm>
          <a:prstGeom prst="rect">
            <a:avLst/>
          </a:prstGeom>
          <a:noFill/>
        </p:spPr>
        <p:txBody>
          <a:bodyPr wrap="square" lIns="18288" rIns="18288" tIns="18288" bIns="18288" anchor="t">
            <a:noAutofit/>
          </a:bodyPr>
          <a:lstStyle/>
          <a:p>
            <a:pPr algn="l">
              <a:spcAft>
                <a:spcPts val="400"/>
              </a:spcAft>
            </a:pPr>
            <a:r>
              <a:rPr sz="1700" b="0" lang="en-US">
                <a:solidFill>
                  <a:srgbClr val="526174"/>
                </a:solidFill>
                <a:latin typeface="Pretendard"/>
                <a:ea typeface="Pretendard"/>
                <a:cs typeface="Pretendard"/>
              </a:rPr>
              <a:t>MultiVelo, MultiVeloVAE, MoFlow, CRAK-Velo; scVelo as the RNA-only floor</a:t>
            </a:r>
          </a:p>
        </p:txBody>
      </p:sp>
      <p:cxnSp>
        <p:nvCxnSpPr>
          <p:cNvPr id="13" name="Connector 12"/>
          <p:cNvCxnSpPr/>
          <p:nvPr/>
        </p:nvCxnSpPr>
        <p:spPr>
          <a:xfrm>
            <a:off x="6995159" y="2901188"/>
            <a:ext cx="411481" cy="0"/>
          </a:xfrm>
          <a:prstGeom prst="line">
            <a:avLst/>
          </a:prstGeom>
          <a:ln w="28575">
            <a:solidFill>
              <a:srgbClr val="526174"/>
            </a:solidFill>
            <a:tailEnd type="triangle"/>
          </a:ln>
        </p:spPr>
        <p:style>
          <a:lnRef idx="2">
            <a:schemeClr val="accent1"/>
          </a:lnRef>
          <a:fillRef idx="0">
            <a:schemeClr val="accent1"/>
          </a:fillRef>
          <a:effectRef idx="1">
            <a:schemeClr val="accent1"/>
          </a:effectRef>
          <a:fontRef idx="minor">
            <a:schemeClr val="tx1"/>
          </a:fontRef>
        </p:style>
      </p:cxnSp>
      <p:sp>
        <p:nvSpPr>
          <p:cNvPr id="14" name="box"/>
          <p:cNvSpPr/>
          <p:nvPr/>
        </p:nvSpPr>
        <p:spPr>
          <a:xfrm>
            <a:off x="7452360" y="1785620"/>
            <a:ext cx="4236719" cy="484632"/>
          </a:xfrm>
          <a:prstGeom prst="roundRect">
            <a:avLst>
              <a:gd name="adj" fmla="val 12000"/>
            </a:avLst>
          </a:prstGeom>
          <a:solidFill>
            <a:srgbClr val="F2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dy"/>
          <p:cNvSpPr txBox="1"/>
          <p:nvPr/>
        </p:nvSpPr>
        <p:spPr>
          <a:xfrm>
            <a:off x="7589520" y="1849628"/>
            <a:ext cx="4053839" cy="384048"/>
          </a:xfrm>
          <a:prstGeom prst="rect">
            <a:avLst/>
          </a:prstGeom>
          <a:noFill/>
        </p:spPr>
        <p:txBody>
          <a:bodyPr wrap="square" lIns="18288" rIns="18288" tIns="18288" bIns="18288" anchor="t">
            <a:noAutofit/>
          </a:bodyPr>
          <a:lstStyle/>
          <a:p>
            <a:pPr algn="l">
              <a:spcAft>
                <a:spcPts val="400"/>
              </a:spcAft>
            </a:pPr>
            <a:r>
              <a:rPr sz="1800" b="0" lang="en-US">
                <a:solidFill>
                  <a:srgbClr val="172033"/>
                </a:solidFill>
                <a:latin typeface="Pretendard"/>
                <a:ea typeface="Pretendard"/>
                <a:cs typeface="Pretendard"/>
              </a:rPr>
              <a:t/>
            </a:r>
            <a:r>
              <a:rPr sz="1800" b="1" i="0" lang="en-US">
                <a:solidFill>
                  <a:srgbClr val="2457C5"/>
                </a:solidFill>
                <a:latin typeface="Pretendard"/>
                <a:ea typeface="Pretendard"/>
                <a:cs typeface="Pretendard"/>
              </a:rPr>
              <a:t>α   </a:t>
            </a:r>
            <a:r>
              <a:rPr sz="1800" b="0" i="0" lang="en-US">
                <a:solidFill>
                  <a:srgbClr val="172033"/>
                </a:solidFill>
                <a:latin typeface="Pretendard"/>
                <a:ea typeface="Pretendard"/>
                <a:cs typeface="Pretendard"/>
              </a:rPr>
              <a:t>transcription rate</a:t>
            </a:r>
          </a:p>
        </p:txBody>
      </p:sp>
      <p:sp>
        <p:nvSpPr>
          <p:cNvPr id="16" name="box"/>
          <p:cNvSpPr/>
          <p:nvPr/>
        </p:nvSpPr>
        <p:spPr>
          <a:xfrm>
            <a:off x="7452360" y="2370836"/>
            <a:ext cx="4236719" cy="484632"/>
          </a:xfrm>
          <a:prstGeom prst="roundRect">
            <a:avLst>
              <a:gd name="adj" fmla="val 12000"/>
            </a:avLst>
          </a:prstGeom>
          <a:solidFill>
            <a:srgbClr val="F2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body"/>
          <p:cNvSpPr txBox="1"/>
          <p:nvPr/>
        </p:nvSpPr>
        <p:spPr>
          <a:xfrm>
            <a:off x="7589520" y="2434843"/>
            <a:ext cx="4053839" cy="384048"/>
          </a:xfrm>
          <a:prstGeom prst="rect">
            <a:avLst/>
          </a:prstGeom>
          <a:noFill/>
        </p:spPr>
        <p:txBody>
          <a:bodyPr wrap="square" lIns="18288" rIns="18288" tIns="18288" bIns="18288" anchor="t">
            <a:noAutofit/>
          </a:bodyPr>
          <a:lstStyle/>
          <a:p>
            <a:pPr algn="l">
              <a:spcAft>
                <a:spcPts val="400"/>
              </a:spcAft>
            </a:pPr>
            <a:r>
              <a:rPr sz="1800" b="0" lang="en-US">
                <a:solidFill>
                  <a:srgbClr val="172033"/>
                </a:solidFill>
                <a:latin typeface="Pretendard"/>
                <a:ea typeface="Pretendard"/>
                <a:cs typeface="Pretendard"/>
              </a:rPr>
              <a:t/>
            </a:r>
            <a:r>
              <a:rPr sz="1800" b="1" i="0" lang="en-US">
                <a:solidFill>
                  <a:srgbClr val="2457C5"/>
                </a:solidFill>
                <a:latin typeface="Pretendard"/>
                <a:ea typeface="Pretendard"/>
                <a:cs typeface="Pretendard"/>
              </a:rPr>
              <a:t>γ   </a:t>
            </a:r>
            <a:r>
              <a:rPr sz="1800" b="0" i="0" lang="en-US">
                <a:solidFill>
                  <a:srgbClr val="172033"/>
                </a:solidFill>
                <a:latin typeface="Pretendard"/>
                <a:ea typeface="Pretendard"/>
                <a:cs typeface="Pretendard"/>
              </a:rPr>
              <a:t>degradation rate</a:t>
            </a:r>
          </a:p>
        </p:txBody>
      </p:sp>
      <p:sp>
        <p:nvSpPr>
          <p:cNvPr id="18" name="box"/>
          <p:cNvSpPr/>
          <p:nvPr/>
        </p:nvSpPr>
        <p:spPr>
          <a:xfrm>
            <a:off x="7452360" y="2956052"/>
            <a:ext cx="4236719" cy="484632"/>
          </a:xfrm>
          <a:prstGeom prst="roundRect">
            <a:avLst>
              <a:gd name="adj" fmla="val 12000"/>
            </a:avLst>
          </a:prstGeom>
          <a:solidFill>
            <a:srgbClr val="F2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body"/>
          <p:cNvSpPr txBox="1"/>
          <p:nvPr/>
        </p:nvSpPr>
        <p:spPr>
          <a:xfrm>
            <a:off x="7589520" y="3020060"/>
            <a:ext cx="4053839" cy="384048"/>
          </a:xfrm>
          <a:prstGeom prst="rect">
            <a:avLst/>
          </a:prstGeom>
          <a:noFill/>
        </p:spPr>
        <p:txBody>
          <a:bodyPr wrap="square" lIns="18288" rIns="18288" tIns="18288" bIns="18288" anchor="t">
            <a:noAutofit/>
          </a:bodyPr>
          <a:lstStyle/>
          <a:p>
            <a:pPr algn="l">
              <a:spcAft>
                <a:spcPts val="400"/>
              </a:spcAft>
            </a:pPr>
            <a:r>
              <a:rPr sz="1800" b="0" lang="en-US">
                <a:solidFill>
                  <a:srgbClr val="172033"/>
                </a:solidFill>
                <a:latin typeface="Pretendard"/>
                <a:ea typeface="Pretendard"/>
                <a:cs typeface="Pretendard"/>
              </a:rPr>
              <a:t/>
            </a:r>
            <a:r>
              <a:rPr sz="1800" b="1" i="0" lang="en-US">
                <a:solidFill>
                  <a:srgbClr val="2457C5"/>
                </a:solidFill>
                <a:latin typeface="Pretendard"/>
                <a:ea typeface="Pretendard"/>
                <a:cs typeface="Pretendard"/>
              </a:rPr>
              <a:t>α_c   </a:t>
            </a:r>
            <a:r>
              <a:rPr sz="1800" b="0" i="0" lang="en-US">
                <a:solidFill>
                  <a:srgbClr val="172033"/>
                </a:solidFill>
                <a:latin typeface="Pretendard"/>
                <a:ea typeface="Pretendard"/>
                <a:cs typeface="Pretendard"/>
              </a:rPr>
              <a:t>chromatin opening rate</a:t>
            </a:r>
          </a:p>
        </p:txBody>
      </p:sp>
      <p:sp>
        <p:nvSpPr>
          <p:cNvPr id="20" name="box"/>
          <p:cNvSpPr/>
          <p:nvPr/>
        </p:nvSpPr>
        <p:spPr>
          <a:xfrm>
            <a:off x="7452360" y="3541268"/>
            <a:ext cx="4236719" cy="484632"/>
          </a:xfrm>
          <a:prstGeom prst="roundRect">
            <a:avLst>
              <a:gd name="adj" fmla="val 12000"/>
            </a:avLst>
          </a:prstGeom>
          <a:solidFill>
            <a:srgbClr val="F2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body"/>
          <p:cNvSpPr txBox="1"/>
          <p:nvPr/>
        </p:nvSpPr>
        <p:spPr>
          <a:xfrm>
            <a:off x="7589520" y="3605276"/>
            <a:ext cx="4053839" cy="384048"/>
          </a:xfrm>
          <a:prstGeom prst="rect">
            <a:avLst/>
          </a:prstGeom>
          <a:noFill/>
        </p:spPr>
        <p:txBody>
          <a:bodyPr wrap="square" lIns="18288" rIns="18288" tIns="18288" bIns="18288" anchor="t">
            <a:noAutofit/>
          </a:bodyPr>
          <a:lstStyle/>
          <a:p>
            <a:pPr algn="l">
              <a:spcAft>
                <a:spcPts val="400"/>
              </a:spcAft>
            </a:pPr>
            <a:r>
              <a:rPr sz="1800" b="0" lang="en-US">
                <a:solidFill>
                  <a:srgbClr val="172033"/>
                </a:solidFill>
                <a:latin typeface="Pretendard"/>
                <a:ea typeface="Pretendard"/>
                <a:cs typeface="Pretendard"/>
              </a:rPr>
              <a:t/>
            </a:r>
            <a:r>
              <a:rPr sz="1800" b="1" i="0" lang="en-US">
                <a:solidFill>
                  <a:srgbClr val="2457C5"/>
                </a:solidFill>
                <a:latin typeface="Pretendard"/>
                <a:ea typeface="Pretendard"/>
                <a:cs typeface="Pretendard"/>
              </a:rPr>
              <a:t>lag   </a:t>
            </a:r>
            <a:r>
              <a:rPr sz="1800" b="0" i="0" lang="en-US">
                <a:solidFill>
                  <a:srgbClr val="172033"/>
                </a:solidFill>
                <a:latin typeface="Pretendard"/>
                <a:ea typeface="Pretendard"/>
                <a:cs typeface="Pretendard"/>
              </a:rPr>
              <a:t>chromatin-to-transcription timing</a:t>
            </a:r>
          </a:p>
        </p:txBody>
      </p:sp>
      <p:sp>
        <p:nvSpPr>
          <p:cNvPr id="22" name="question-bar"/>
          <p:cNvSpPr/>
          <p:nvPr/>
        </p:nvSpPr>
        <p:spPr>
          <a:xfrm>
            <a:off x="502920" y="4391660"/>
            <a:ext cx="73152" cy="1325880"/>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
          <p:cNvSpPr txBox="1"/>
          <p:nvPr/>
        </p:nvSpPr>
        <p:spPr>
          <a:xfrm>
            <a:off x="777240" y="4391660"/>
            <a:ext cx="10911839" cy="822960"/>
          </a:xfrm>
          <a:prstGeom prst="rect">
            <a:avLst/>
          </a:prstGeom>
          <a:noFill/>
        </p:spPr>
        <p:txBody>
          <a:bodyPr wrap="square" lIns="18288" rIns="18288" tIns="18288" bIns="18288" anchor="t">
            <a:noAutofit/>
          </a:bodyPr>
          <a:lstStyle/>
          <a:p>
            <a:pPr algn="l">
              <a:spcAft>
                <a:spcPts val="400"/>
              </a:spcAft>
            </a:pPr>
            <a:r>
              <a:rPr sz="2600" b="1" lang="en-US">
                <a:solidFill>
                  <a:srgbClr val="172033"/>
                </a:solidFill>
                <a:latin typeface="Pretendard"/>
                <a:ea typeface="Pretendard"/>
                <a:cs typeface="Pretendard"/>
              </a:rPr>
              <a:t>Which of these per-gene numbers is reliable enough to use as a feature?</a:t>
            </a:r>
          </a:p>
        </p:txBody>
      </p:sp>
      <p:sp>
        <p:nvSpPr>
          <p:cNvPr id="24" name="body"/>
          <p:cNvSpPr txBox="1"/>
          <p:nvPr/>
        </p:nvSpPr>
        <p:spPr>
          <a:xfrm>
            <a:off x="777240" y="5287772"/>
            <a:ext cx="10911839" cy="457200"/>
          </a:xfrm>
          <a:prstGeom prst="rect">
            <a:avLst/>
          </a:prstGeom>
          <a:noFill/>
        </p:spPr>
        <p:txBody>
          <a:bodyPr wrap="square" lIns="18288" rIns="18288" tIns="18288" bIns="18288" anchor="t">
            <a:noAutofit/>
          </a:bodyPr>
          <a:lstStyle/>
          <a:p>
            <a:pPr algn="l">
              <a:spcAft>
                <a:spcPts val="400"/>
              </a:spcAft>
            </a:pPr>
            <a:r>
              <a:rPr sz="1900" b="0" lang="en-US">
                <a:solidFill>
                  <a:srgbClr val="526174"/>
                </a:solidFill>
                <a:latin typeface="Pretendard"/>
                <a:ea typeface="Pretendard"/>
                <a:cs typeface="Pretendard"/>
              </a:rPr>
              <a:t>Our starting case: does early chromatin priming predict when a gene responds to an epigenetic drug?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932688"/>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Reliability can be tested on four independent axes</a:t>
            </a:r>
          </a:p>
        </p:txBody>
      </p:sp>
      <p:sp>
        <p:nvSpPr>
          <p:cNvPr id="3" name="title-accent"/>
          <p:cNvSpPr/>
          <p:nvPr/>
        </p:nvSpPr>
        <p:spPr>
          <a:xfrm>
            <a:off x="502920" y="1353312"/>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2</a:t>
            </a:r>
          </a:p>
        </p:txBody>
      </p:sp>
      <p:sp>
        <p:nvSpPr>
          <p:cNvPr id="5" name="box"/>
          <p:cNvSpPr/>
          <p:nvPr/>
        </p:nvSpPr>
        <p:spPr>
          <a:xfrm>
            <a:off x="502920" y="1737360"/>
            <a:ext cx="2625089" cy="288036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Oval 5"/>
          <p:cNvSpPr/>
          <p:nvPr/>
        </p:nvSpPr>
        <p:spPr>
          <a:xfrm>
            <a:off x="685800" y="1920240"/>
            <a:ext cx="502920" cy="502920"/>
          </a:xfrm>
          <a:prstGeom prst="ellipse">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r>
              <a:rPr sz="2000" b="1" lang="en-US">
                <a:solidFill>
                  <a:srgbClr val="FFFFFF"/>
                </a:solidFill>
                <a:latin typeface="Pretendard"/>
                <a:ea typeface="Pretendard"/>
                <a:cs typeface="Pretendard"/>
              </a:rPr>
              <a:t>1</a:t>
            </a:r>
          </a:p>
        </p:txBody>
      </p:sp>
      <p:sp>
        <p:nvSpPr>
          <p:cNvPr id="7" name="body"/>
          <p:cNvSpPr txBox="1"/>
          <p:nvPr/>
        </p:nvSpPr>
        <p:spPr>
          <a:xfrm>
            <a:off x="685800" y="2542032"/>
            <a:ext cx="2305049" cy="731520"/>
          </a:xfrm>
          <a:prstGeom prst="rect">
            <a:avLst/>
          </a:prstGeom>
          <a:noFill/>
        </p:spPr>
        <p:txBody>
          <a:bodyPr wrap="square" lIns="18288" rIns="18288" tIns="18288" bIns="18288" anchor="t">
            <a:noAutofit/>
          </a:bodyPr>
          <a:lstStyle/>
          <a:p>
            <a:pPr algn="l">
              <a:spcAft>
                <a:spcPts val="400"/>
              </a:spcAft>
            </a:pPr>
            <a:r>
              <a:rPr sz="2000" b="1" lang="en-US">
                <a:solidFill>
                  <a:srgbClr val="172033"/>
                </a:solidFill>
                <a:latin typeface="Pretendard"/>
                <a:ea typeface="Pretendard"/>
                <a:cs typeface="Pretendard"/>
              </a:rPr>
              <a:t>Cross-method reproducibility</a:t>
            </a:r>
          </a:p>
        </p:txBody>
      </p:sp>
      <p:sp>
        <p:nvSpPr>
          <p:cNvPr id="8" name="body"/>
          <p:cNvSpPr txBox="1"/>
          <p:nvPr/>
        </p:nvSpPr>
        <p:spPr>
          <a:xfrm>
            <a:off x="685800" y="3291840"/>
            <a:ext cx="2305049" cy="128016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Do two methods on the same cells rank genes the same way? Spearman ρ, permutation test</a:t>
            </a:r>
          </a:p>
        </p:txBody>
      </p:sp>
      <p:sp>
        <p:nvSpPr>
          <p:cNvPr id="9" name="box"/>
          <p:cNvSpPr/>
          <p:nvPr/>
        </p:nvSpPr>
        <p:spPr>
          <a:xfrm>
            <a:off x="3356609" y="1737360"/>
            <a:ext cx="2625089" cy="288036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Oval 9"/>
          <p:cNvSpPr/>
          <p:nvPr/>
        </p:nvSpPr>
        <p:spPr>
          <a:xfrm>
            <a:off x="3539489" y="1920240"/>
            <a:ext cx="502920" cy="502920"/>
          </a:xfrm>
          <a:prstGeom prst="ellipse">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r>
              <a:rPr sz="2000" b="1" lang="en-US">
                <a:solidFill>
                  <a:srgbClr val="FFFFFF"/>
                </a:solidFill>
                <a:latin typeface="Pretendard"/>
                <a:ea typeface="Pretendard"/>
                <a:cs typeface="Pretendard"/>
              </a:rPr>
              <a:t>2</a:t>
            </a:r>
          </a:p>
        </p:txBody>
      </p:sp>
      <p:sp>
        <p:nvSpPr>
          <p:cNvPr id="11" name="body"/>
          <p:cNvSpPr txBox="1"/>
          <p:nvPr/>
        </p:nvSpPr>
        <p:spPr>
          <a:xfrm>
            <a:off x="3539489" y="2542032"/>
            <a:ext cx="2305049" cy="731520"/>
          </a:xfrm>
          <a:prstGeom prst="rect">
            <a:avLst/>
          </a:prstGeom>
          <a:noFill/>
        </p:spPr>
        <p:txBody>
          <a:bodyPr wrap="square" lIns="18288" rIns="18288" tIns="18288" bIns="18288" anchor="t">
            <a:noAutofit/>
          </a:bodyPr>
          <a:lstStyle/>
          <a:p>
            <a:pPr algn="l">
              <a:spcAft>
                <a:spcPts val="400"/>
              </a:spcAft>
            </a:pPr>
            <a:r>
              <a:rPr sz="2000" b="1" lang="en-US">
                <a:solidFill>
                  <a:srgbClr val="172033"/>
                </a:solidFill>
                <a:latin typeface="Pretendard"/>
                <a:ea typeface="Pretendard"/>
                <a:cs typeface="Pretendard"/>
              </a:rPr>
              <a:t>Within-lineage ATAC shuffle</a:t>
            </a:r>
          </a:p>
        </p:txBody>
      </p:sp>
      <p:sp>
        <p:nvSpPr>
          <p:cNvPr id="12" name="body"/>
          <p:cNvSpPr txBox="1"/>
          <p:nvPr/>
        </p:nvSpPr>
        <p:spPr>
          <a:xfrm>
            <a:off x="3539489" y="3291840"/>
            <a:ext cx="2305049" cy="128016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Permute ATAC across cells inside each lineage, refit. Breaks each cell's chromatin–RNA pairing</a:t>
            </a:r>
          </a:p>
        </p:txBody>
      </p:sp>
      <p:sp>
        <p:nvSpPr>
          <p:cNvPr id="13" name="box"/>
          <p:cNvSpPr/>
          <p:nvPr/>
        </p:nvSpPr>
        <p:spPr>
          <a:xfrm>
            <a:off x="6210299" y="1737360"/>
            <a:ext cx="2625089" cy="288036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6393179" y="1920240"/>
            <a:ext cx="502920" cy="502920"/>
          </a:xfrm>
          <a:prstGeom prst="ellipse">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r>
              <a:rPr sz="2000" b="1" lang="en-US">
                <a:solidFill>
                  <a:srgbClr val="FFFFFF"/>
                </a:solidFill>
                <a:latin typeface="Pretendard"/>
                <a:ea typeface="Pretendard"/>
                <a:cs typeface="Pretendard"/>
              </a:rPr>
              <a:t>3</a:t>
            </a:r>
          </a:p>
        </p:txBody>
      </p:sp>
      <p:sp>
        <p:nvSpPr>
          <p:cNvPr id="15" name="body"/>
          <p:cNvSpPr txBox="1"/>
          <p:nvPr/>
        </p:nvSpPr>
        <p:spPr>
          <a:xfrm>
            <a:off x="6393179" y="2542032"/>
            <a:ext cx="2305049" cy="731520"/>
          </a:xfrm>
          <a:prstGeom prst="rect">
            <a:avLst/>
          </a:prstGeom>
          <a:noFill/>
        </p:spPr>
        <p:txBody>
          <a:bodyPr wrap="square" lIns="18288" rIns="18288" tIns="18288" bIns="18288" anchor="t">
            <a:noAutofit/>
          </a:bodyPr>
          <a:lstStyle/>
          <a:p>
            <a:pPr algn="l">
              <a:spcAft>
                <a:spcPts val="400"/>
              </a:spcAft>
            </a:pPr>
            <a:r>
              <a:rPr sz="2000" b="1" lang="en-US">
                <a:solidFill>
                  <a:srgbClr val="172033"/>
                </a:solidFill>
                <a:latin typeface="Pretendard"/>
                <a:ea typeface="Pretendard"/>
                <a:cs typeface="Pretendard"/>
              </a:rPr>
              <a:t>External replication</a:t>
            </a:r>
          </a:p>
        </p:txBody>
      </p:sp>
      <p:sp>
        <p:nvSpPr>
          <p:cNvPr id="16" name="body"/>
          <p:cNvSpPr txBox="1"/>
          <p:nvPr/>
        </p:nvSpPr>
        <p:spPr>
          <a:xfrm>
            <a:off x="6393179" y="3291840"/>
            <a:ext cx="2305049" cy="128016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Five external multiomes, from bone marrow to mouse gastrulation; gastrulation preregistered</a:t>
            </a:r>
          </a:p>
        </p:txBody>
      </p:sp>
      <p:sp>
        <p:nvSpPr>
          <p:cNvPr id="17" name="box"/>
          <p:cNvSpPr/>
          <p:nvPr/>
        </p:nvSpPr>
        <p:spPr>
          <a:xfrm>
            <a:off x="9063989" y="1737360"/>
            <a:ext cx="2625089" cy="288036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Oval 17"/>
          <p:cNvSpPr/>
          <p:nvPr/>
        </p:nvSpPr>
        <p:spPr>
          <a:xfrm>
            <a:off x="9246869" y="1920240"/>
            <a:ext cx="502920" cy="502920"/>
          </a:xfrm>
          <a:prstGeom prst="ellipse">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r>
              <a:rPr sz="2000" b="1" lang="en-US">
                <a:solidFill>
                  <a:srgbClr val="FFFFFF"/>
                </a:solidFill>
                <a:latin typeface="Pretendard"/>
                <a:ea typeface="Pretendard"/>
                <a:cs typeface="Pretendard"/>
              </a:rPr>
              <a:t>4</a:t>
            </a:r>
          </a:p>
        </p:txBody>
      </p:sp>
      <p:sp>
        <p:nvSpPr>
          <p:cNvPr id="19" name="body"/>
          <p:cNvSpPr txBox="1"/>
          <p:nvPr/>
        </p:nvSpPr>
        <p:spPr>
          <a:xfrm>
            <a:off x="9246869" y="2542032"/>
            <a:ext cx="2305049" cy="731520"/>
          </a:xfrm>
          <a:prstGeom prst="rect">
            <a:avLst/>
          </a:prstGeom>
          <a:noFill/>
        </p:spPr>
        <p:txBody>
          <a:bodyPr wrap="square" lIns="18288" rIns="18288" tIns="18288" bIns="18288" anchor="t">
            <a:noAutofit/>
          </a:bodyPr>
          <a:lstStyle/>
          <a:p>
            <a:pPr algn="l">
              <a:spcAft>
                <a:spcPts val="400"/>
              </a:spcAft>
            </a:pPr>
            <a:r>
              <a:rPr sz="2000" b="1" lang="en-US">
                <a:solidFill>
                  <a:srgbClr val="172033"/>
                </a:solidFill>
                <a:latin typeface="Pretendard"/>
                <a:ea typeface="Pretendard"/>
                <a:cs typeface="Pretendard"/>
              </a:rPr>
              <a:t>External anchoring</a:t>
            </a:r>
          </a:p>
        </p:txBody>
      </p:sp>
      <p:sp>
        <p:nvSpPr>
          <p:cNvPr id="20" name="body"/>
          <p:cNvSpPr txBox="1"/>
          <p:nvPr/>
        </p:nvSpPr>
        <p:spPr>
          <a:xfrm>
            <a:off x="9246869" y="3291840"/>
            <a:ext cx="2305049" cy="128016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α vs measured synthesis, γ vs measured half-life, each against transcript abundance</a:t>
            </a:r>
          </a:p>
        </p:txBody>
      </p:sp>
      <p:sp>
        <p:nvSpPr>
          <p:cNvPr id="21" name="rule"/>
          <p:cNvSpPr/>
          <p:nvPr/>
        </p:nvSpPr>
        <p:spPr>
          <a:xfrm>
            <a:off x="502920" y="4892040"/>
            <a:ext cx="11186159" cy="10972"/>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body"/>
          <p:cNvSpPr txBox="1"/>
          <p:nvPr/>
        </p:nvSpPr>
        <p:spPr>
          <a:xfrm>
            <a:off x="502920" y="5001768"/>
            <a:ext cx="11186159" cy="685800"/>
          </a:xfrm>
          <a:prstGeom prst="rect">
            <a:avLst/>
          </a:prstGeom>
          <a:noFill/>
        </p:spPr>
        <p:txBody>
          <a:bodyPr wrap="square" lIns="18288" rIns="18288" tIns="18288" bIns="18288" anchor="t">
            <a:noAutofit/>
          </a:bodyPr>
          <a:lstStyle/>
          <a:p>
            <a:pPr algn="l">
              <a:spcAft>
                <a:spcPts val="400"/>
              </a:spcAft>
            </a:pPr>
            <a:r>
              <a:rPr sz="1800" b="0" lang="en-US">
                <a:solidFill>
                  <a:srgbClr val="172033"/>
                </a:solidFill>
                <a:latin typeface="Pretendard"/>
                <a:ea typeface="Pretendard"/>
                <a:cs typeface="Pretendard"/>
              </a:rPr>
              <a:t/>
            </a:r>
            <a:r>
              <a:rPr sz="1800" b="1" i="0" lang="en-US">
                <a:solidFill>
                  <a:srgbClr val="2457C5"/>
                </a:solidFill>
                <a:latin typeface="Pretendard"/>
                <a:ea typeface="Pretendard"/>
                <a:cs typeface="Pretendard"/>
              </a:rPr>
              <a:t>Data  </a:t>
            </a:r>
            <a:r>
              <a:rPr sz="1800" b="0" i="0" lang="en-US">
                <a:solidFill>
                  <a:srgbClr val="172033"/>
                </a:solidFill>
                <a:latin typeface="Pretendard"/>
                <a:ea typeface="Pretendard"/>
                <a:cs typeface="Pretendard"/>
              </a:rPr>
              <a:t>Human hematopoietic stem and progenitor cells (HSPC), 10x Multiome (GSE209878), day 0 + day 7 integrated, 21,878 cells</a:t>
            </a:r>
          </a:p>
        </p:txBody>
      </p:sp>
      <p:sp>
        <p:nvSpPr>
          <p:cNvPr id="23" name="body"/>
          <p:cNvSpPr txBox="1"/>
          <p:nvPr/>
        </p:nvSpPr>
        <p:spPr>
          <a:xfrm>
            <a:off x="502920" y="5733288"/>
            <a:ext cx="11186159" cy="685800"/>
          </a:xfrm>
          <a:prstGeom prst="rect">
            <a:avLst/>
          </a:prstGeom>
          <a:noFill/>
        </p:spPr>
        <p:txBody>
          <a:bodyPr wrap="square" lIns="18288" rIns="18288" tIns="18288" bIns="18288" anchor="t">
            <a:noAutofit/>
          </a:bodyPr>
          <a:lstStyle/>
          <a:p>
            <a:pPr algn="l">
              <a:spcAft>
                <a:spcPts val="400"/>
              </a:spcAft>
            </a:pPr>
            <a:r>
              <a:rPr sz="1800" b="0" lang="en-US">
                <a:solidFill>
                  <a:srgbClr val="172033"/>
                </a:solidFill>
                <a:latin typeface="Pretendard"/>
                <a:ea typeface="Pretendard"/>
                <a:cs typeface="Pretendard"/>
              </a:rPr>
              <a:t/>
            </a:r>
            <a:r>
              <a:rPr sz="1800" b="1" i="0" lang="en-US">
                <a:solidFill>
                  <a:srgbClr val="2457C5"/>
                </a:solidFill>
                <a:latin typeface="Pretendard"/>
                <a:ea typeface="Pretendard"/>
                <a:cs typeface="Pretendard"/>
              </a:rPr>
              <a:t>Arms  </a:t>
            </a:r>
            <a:r>
              <a:rPr sz="1800" b="0" i="0" lang="en-US">
                <a:solidFill>
                  <a:srgbClr val="172033"/>
                </a:solidFill>
                <a:latin typeface="Pretendard"/>
                <a:ea typeface="Pretendard"/>
                <a:cs typeface="Pretendard"/>
              </a:rPr>
              <a:t>scVelo (RNA-only floor), MultiVelo, MultiVeloVAE, MoFlow, CRAK-Velo, branching from one common preprocessing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932688"/>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The methods do not estimate the same lag</a:t>
            </a:r>
          </a:p>
        </p:txBody>
      </p:sp>
      <p:sp>
        <p:nvSpPr>
          <p:cNvPr id="3" name="title-accent"/>
          <p:cNvSpPr/>
          <p:nvPr/>
        </p:nvSpPr>
        <p:spPr>
          <a:xfrm>
            <a:off x="502920" y="1353312"/>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Li et al. 2023 (MultiVelo); Li et al. 2025 (MultiVeloVAE); Hong et al. 2025 (MoFlow); El Kazwini et al. 2026 (CRAK-Velo).</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3</a:t>
            </a:r>
          </a:p>
        </p:txBody>
      </p:sp>
      <p:graphicFrame>
        <p:nvGraphicFramePr>
          <p:cNvPr id="6" name="table"/>
          <p:cNvGraphicFramePr>
            <a:graphicFrameLocks noGrp="1"/>
          </p:cNvGraphicFramePr>
          <p:nvPr/>
        </p:nvGraphicFramePr>
        <p:xfrm>
          <a:off x="502920" y="1737360"/>
          <a:ext cx="11183111" cy="3566160"/>
        </p:xfrm>
        <a:graphic>
          <a:graphicData uri="http://schemas.openxmlformats.org/drawingml/2006/table">
            <a:tbl>
              <a:tblPr firstRow="1" bandRow="1">
                <a:tableStyleId>{5C22544A-7EE6-4342-B048-85BDC9FD1C3A}</a:tableStyleId>
              </a:tblPr>
              <a:tblGrid>
                <a:gridCol w="3017520"/>
                <a:gridCol w="6309360"/>
                <a:gridCol w="1856231"/>
              </a:tblGrid>
              <a:tr h="594360">
                <a:tc>
                  <a:txBody>
                    <a:bodyPr wrap="square"/>
                    <a:lstStyle/>
                    <a:p>
                      <a:pPr algn="l"/>
                      <a:r>
                        <a:rPr sz="1800" b="1" lang="en-US">
                          <a:solidFill>
                            <a:srgbClr val="FFFFFF"/>
                          </a:solidFill>
                          <a:latin typeface="Pretendard"/>
                          <a:ea typeface="Pretendard"/>
                          <a:cs typeface="Pretendard"/>
                        </a:rPr>
                        <a:t>Method</a:t>
                      </a:r>
                    </a:p>
                  </a:txBody>
                  <a:tcPr marL="73152" marR="73152" marT="36576" marB="36576" anchor="ctr">
                    <a:solidFill>
                      <a:srgbClr val="2457C5"/>
                    </a:solidFill>
                  </a:tcPr>
                </a:tc>
                <a:tc>
                  <a:txBody>
                    <a:bodyPr wrap="square"/>
                    <a:lstStyle/>
                    <a:p>
                      <a:pPr algn="l"/>
                      <a:r>
                        <a:rPr sz="1800" b="1" lang="en-US">
                          <a:solidFill>
                            <a:srgbClr val="FFFFFF"/>
                          </a:solidFill>
                          <a:latin typeface="Pretendard"/>
                          <a:ea typeface="Pretendard"/>
                          <a:cs typeface="Pretendard"/>
                        </a:rPr>
                        <a:t>What the “lag” is</a:t>
                      </a:r>
                    </a:p>
                  </a:txBody>
                  <a:tcPr marL="73152" marR="73152" marT="36576" marB="36576" anchor="ctr">
                    <a:solidFill>
                      <a:srgbClr val="2457C5"/>
                    </a:solidFill>
                  </a:tcPr>
                </a:tc>
                <a:tc>
                  <a:txBody>
                    <a:bodyPr wrap="square"/>
                    <a:lstStyle/>
                    <a:p>
                      <a:pPr algn="ctr"/>
                      <a:r>
                        <a:rPr sz="1800" b="1" lang="en-US">
                          <a:solidFill>
                            <a:srgbClr val="FFFFFF"/>
                          </a:solidFill>
                          <a:latin typeface="Pretendard"/>
                          <a:ea typeface="Pretendard"/>
                          <a:cs typeface="Pretendard"/>
                        </a:rPr>
                        <a:t>Role here</a:t>
                      </a:r>
                    </a:p>
                  </a:txBody>
                  <a:tcPr marL="73152" marR="73152" marT="36576" marB="36576" anchor="ctr">
                    <a:solidFill>
                      <a:srgbClr val="2457C5"/>
                    </a:solidFill>
                  </a:tcPr>
                </a:tc>
              </a:tr>
              <a:tr h="594360">
                <a:tc>
                  <a:txBody>
                    <a:bodyPr wrap="square"/>
                    <a:lstStyle/>
                    <a:p>
                      <a:pPr algn="l"/>
                      <a:r>
                        <a:rPr sz="1800" b="1" lang="en-US">
                          <a:solidFill>
                            <a:srgbClr val="172033"/>
                          </a:solidFill>
                          <a:latin typeface="Pretendard"/>
                          <a:ea typeface="Pretendard"/>
                          <a:cs typeface="Pretendard"/>
                        </a:rPr>
                        <a:t>MultiVelo</a:t>
                      </a:r>
                    </a:p>
                  </a:txBody>
                  <a:tcPr marL="73152" marR="73152" marT="36576" marB="36576" anchor="ctr">
                    <a:solidFill>
                      <a:srgbClr val="FFFFFF"/>
                    </a:solidFill>
                  </a:tcPr>
                </a:tc>
                <a:tc>
                  <a:txBody>
                    <a:bodyPr wrap="square"/>
                    <a:lstStyle/>
                    <a:p>
                      <a:pPr algn="l"/>
                      <a:r>
                        <a:rPr sz="1800" b="0" lang="en-US">
                          <a:solidFill>
                            <a:srgbClr val="172033"/>
                          </a:solidFill>
                          <a:latin typeface="Pretendard"/>
                          <a:ea typeface="Pretendard"/>
                          <a:cs typeface="Pretendard"/>
                        </a:rPr>
                        <a:t>Priming interval t_sw1: chromatin opens, transcription has not started</a:t>
                      </a:r>
                    </a:p>
                  </a:txBody>
                  <a:tcPr marL="73152" marR="73152" marT="36576" marB="36576" anchor="ctr">
                    <a:solidFill>
                      <a:srgbClr val="FFFFFF"/>
                    </a:solidFill>
                  </a:tcPr>
                </a:tc>
                <a:tc>
                  <a:txBody>
                    <a:bodyPr wrap="square"/>
                    <a:lstStyle/>
                    <a:p>
                      <a:pPr algn="ctr"/>
                      <a:r>
                        <a:rPr sz="1800" b="1" lang="en-US">
                          <a:solidFill>
                            <a:srgbClr val="2457C5"/>
                          </a:solidFill>
                          <a:latin typeface="Pretendard"/>
                          <a:ea typeface="Pretendard"/>
                          <a:cs typeface="Pretendard"/>
                        </a:rPr>
                        <a:t>Primary</a:t>
                      </a:r>
                    </a:p>
                  </a:txBody>
                  <a:tcPr marL="73152" marR="73152" marT="36576" marB="36576" anchor="ctr">
                    <a:solidFill>
                      <a:srgbClr val="FFFFFF"/>
                    </a:solidFill>
                  </a:tcPr>
                </a:tc>
              </a:tr>
              <a:tr h="594360">
                <a:tc>
                  <a:txBody>
                    <a:bodyPr wrap="square"/>
                    <a:lstStyle/>
                    <a:p>
                      <a:pPr algn="l"/>
                      <a:r>
                        <a:rPr sz="1800" b="1" lang="en-US">
                          <a:solidFill>
                            <a:srgbClr val="172033"/>
                          </a:solidFill>
                          <a:latin typeface="Pretendard"/>
                          <a:ea typeface="Pretendard"/>
                          <a:cs typeface="Pretendard"/>
                        </a:rPr>
                        <a:t>MultiVelo</a:t>
                      </a:r>
                    </a:p>
                  </a:txBody>
                  <a:tcPr marL="73152" marR="73152" marT="36576" marB="36576" anchor="ctr">
                    <a:solidFill>
                      <a:srgbClr val="F8FAFD"/>
                    </a:solidFill>
                  </a:tcPr>
                </a:tc>
                <a:tc>
                  <a:txBody>
                    <a:bodyPr wrap="square"/>
                    <a:lstStyle/>
                    <a:p>
                      <a:pPr algn="l"/>
                      <a:r>
                        <a:rPr sz="1800" b="0" lang="en-US">
                          <a:solidFill>
                            <a:srgbClr val="172033"/>
                          </a:solidFill>
                          <a:latin typeface="Pretendard"/>
                          <a:ea typeface="Pretendard"/>
                          <a:cs typeface="Pretendard"/>
                        </a:rPr>
                        <a:t>Coupled-on duration t_sw2 − t_sw1: chromatin open and transcription on</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Sensitivity</a:t>
                      </a:r>
                    </a:p>
                  </a:txBody>
                  <a:tcPr marL="73152" marR="73152" marT="36576" marB="36576" anchor="ctr">
                    <a:solidFill>
                      <a:srgbClr val="F8FAFD"/>
                    </a:solidFill>
                  </a:tcPr>
                </a:tc>
              </a:tr>
              <a:tr h="594360">
                <a:tc>
                  <a:txBody>
                    <a:bodyPr wrap="square"/>
                    <a:lstStyle/>
                    <a:p>
                      <a:pPr algn="l"/>
                      <a:r>
                        <a:rPr sz="1800" b="1" lang="en-US">
                          <a:solidFill>
                            <a:srgbClr val="172033"/>
                          </a:solidFill>
                          <a:latin typeface="Pretendard"/>
                          <a:ea typeface="Pretendard"/>
                          <a:cs typeface="Pretendard"/>
                        </a:rPr>
                        <a:t>MultiVeloVAE</a:t>
                      </a:r>
                    </a:p>
                  </a:txBody>
                  <a:tcPr marL="73152" marR="73152" marT="36576" marB="36576" anchor="ctr">
                    <a:solidFill>
                      <a:srgbClr val="FFFFFF"/>
                    </a:solidFill>
                  </a:tcPr>
                </a:tc>
                <a:tc>
                  <a:txBody>
                    <a:bodyPr wrap="square"/>
                    <a:lstStyle/>
                    <a:p>
                      <a:pPr algn="l"/>
                      <a:r>
                        <a:rPr sz="1800" b="0" lang="en-US">
                          <a:solidFill>
                            <a:srgbClr val="172033"/>
                          </a:solidFill>
                          <a:latin typeface="Pretendard"/>
                          <a:ea typeface="Pretendard"/>
                          <a:cs typeface="Pretendard"/>
                        </a:rPr>
                        <a:t>Rate proxy 1/α_c − 1/α</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Partner</a:t>
                      </a:r>
                    </a:p>
                  </a:txBody>
                  <a:tcPr marL="73152" marR="73152" marT="36576" marB="36576" anchor="ctr">
                    <a:solidFill>
                      <a:srgbClr val="FFFFFF"/>
                    </a:solidFill>
                  </a:tcPr>
                </a:tc>
              </a:tr>
              <a:tr h="594360">
                <a:tc>
                  <a:txBody>
                    <a:bodyPr wrap="square"/>
                    <a:lstStyle/>
                    <a:p>
                      <a:pPr algn="l"/>
                      <a:r>
                        <a:rPr sz="1800" b="1" lang="en-US">
                          <a:solidFill>
                            <a:srgbClr val="172033"/>
                          </a:solidFill>
                          <a:latin typeface="Pretendard"/>
                          <a:ea typeface="Pretendard"/>
                          <a:cs typeface="Pretendard"/>
                        </a:rPr>
                        <a:t>MoFlow, CRAK-Velo</a:t>
                      </a:r>
                    </a:p>
                  </a:txBody>
                  <a:tcPr marL="73152" marR="73152" marT="36576" marB="36576" anchor="ctr">
                    <a:solidFill>
                      <a:srgbClr val="F8FAFD"/>
                    </a:solidFill>
                  </a:tcPr>
                </a:tc>
                <a:tc>
                  <a:txBody>
                    <a:bodyPr wrap="square"/>
                    <a:lstStyle/>
                    <a:p>
                      <a:pPr algn="l"/>
                      <a:r>
                        <a:rPr sz="1800" b="0" lang="en-US">
                          <a:solidFill>
                            <a:srgbClr val="172033"/>
                          </a:solidFill>
                          <a:latin typeface="Pretendard"/>
                          <a:ea typeface="Pretendard"/>
                          <a:cs typeface="Pretendard"/>
                        </a:rPr>
                        <a:t>Offsets from dynamic time warping</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Partner</a:t>
                      </a:r>
                    </a:p>
                  </a:txBody>
                  <a:tcPr marL="73152" marR="73152" marT="36576" marB="36576" anchor="ctr">
                    <a:solidFill>
                      <a:srgbClr val="F8FAFD"/>
                    </a:solidFill>
                  </a:tcPr>
                </a:tc>
              </a:tr>
              <a:tr h="594360">
                <a:tc>
                  <a:txBody>
                    <a:bodyPr wrap="square"/>
                    <a:lstStyle/>
                    <a:p>
                      <a:pPr algn="l"/>
                      <a:r>
                        <a:rPr sz="1800" b="1" lang="en-US">
                          <a:solidFill>
                            <a:srgbClr val="172033"/>
                          </a:solidFill>
                          <a:latin typeface="Pretendard"/>
                          <a:ea typeface="Pretendard"/>
                          <a:cs typeface="Pretendard"/>
                        </a:rPr>
                        <a:t>MultiVelo and MultiVeloVAE</a:t>
                      </a:r>
                    </a:p>
                  </a:txBody>
                  <a:tcPr marL="73152" marR="73152" marT="36576" marB="36576" anchor="ctr">
                    <a:solidFill>
                      <a:srgbClr val="FFFFFF"/>
                    </a:solidFill>
                  </a:tcPr>
                </a:tc>
                <a:tc>
                  <a:txBody>
                    <a:bodyPr wrap="square"/>
                    <a:lstStyle/>
                    <a:p>
                      <a:pPr algn="l"/>
                      <a:r>
                        <a:rPr sz="1800" b="0" lang="en-US">
                          <a:solidFill>
                            <a:srgbClr val="172033"/>
                          </a:solidFill>
                          <a:latin typeface="Pretendard"/>
                          <a:ea typeface="Pretendard"/>
                          <a:cs typeface="Pretendard"/>
                        </a:rPr>
                        <a:t>One identical formula, 1/α_c − 1/α, computed in both</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Control</a:t>
                      </a:r>
                    </a:p>
                  </a:txBody>
                  <a:tcPr marL="73152" marR="73152" marT="36576" marB="36576" anchor="ctr">
                    <a:solidFill>
                      <a:srgbClr val="FFFFFF"/>
                    </a:solidFill>
                  </a:tcPr>
                </a:tc>
              </a:tr>
            </a:tbl>
          </a:graphicData>
        </a:graphic>
      </p:graphicFrame>
      <p:sp>
        <p:nvSpPr>
          <p:cNvPr id="7" name="body"/>
          <p:cNvSpPr txBox="1"/>
          <p:nvPr/>
        </p:nvSpPr>
        <p:spPr>
          <a:xfrm>
            <a:off x="502920" y="5532120"/>
            <a:ext cx="11186159" cy="457200"/>
          </a:xfrm>
          <a:prstGeom prst="rect">
            <a:avLst/>
          </a:prstGeom>
          <a:noFill/>
        </p:spPr>
        <p:txBody>
          <a:bodyPr wrap="square" lIns="18288" rIns="18288" tIns="18288" bIns="18288" anchor="t">
            <a:noAutofit/>
          </a:bodyPr>
          <a:lstStyle/>
          <a:p>
            <a:pPr algn="l">
              <a:spcAft>
                <a:spcPts val="400"/>
              </a:spcAft>
            </a:pPr>
            <a:r>
              <a:rPr sz="2000" b="1" lang="en-US">
                <a:solidFill>
                  <a:srgbClr val="2457C5"/>
                </a:solidFill>
                <a:latin typeface="Pretendard"/>
                <a:ea typeface="Pretendard"/>
                <a:cs typeface="Pretendard"/>
              </a:rPr>
              <a:t>No two of these are the same object, so we compare every definition we can compute.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α reproduces across methods; the lag does not, under any definition</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538 shared genes (537 with MoFlow). Spearman ρ, gene-bootstrap 95% CI, B = 10,000; Δρ on the same bootstrap draw.</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4</a:t>
            </a:r>
          </a:p>
        </p:txBody>
      </p:sp>
      <p:pic>
        <p:nvPicPr>
          <p:cNvPr id="6" name="fig-concordance" descr="fig01_concordance_v2.png"/>
          <p:cNvPicPr>
            <a:picLocks noChangeAspect="1"/>
          </p:cNvPicPr>
          <p:nvPr/>
        </p:nvPicPr>
        <p:blipFill>
          <a:blip r:embed="rId2"/>
          <a:stretch>
            <a:fillRect/>
          </a:stretch>
        </p:blipFill>
        <p:spPr>
          <a:xfrm>
            <a:off x="502920" y="2129862"/>
            <a:ext cx="11186159" cy="3835254"/>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The gap survives gene dependence, and the direction stays near 50/50</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5</a:t>
            </a:r>
          </a:p>
        </p:txBody>
      </p:sp>
      <p:sp>
        <p:nvSpPr>
          <p:cNvPr id="5" name="body"/>
          <p:cNvSpPr txBox="1"/>
          <p:nvPr/>
        </p:nvSpPr>
        <p:spPr>
          <a:xfrm>
            <a:off x="502920" y="1831340"/>
            <a:ext cx="2377440" cy="685800"/>
          </a:xfrm>
          <a:prstGeom prst="rect">
            <a:avLst/>
          </a:prstGeom>
          <a:noFill/>
        </p:spPr>
        <p:txBody>
          <a:bodyPr wrap="square" lIns="18288" rIns="18288" tIns="18288" bIns="18288" anchor="t">
            <a:noAutofit/>
          </a:bodyPr>
          <a:lstStyle/>
          <a:p>
            <a:pPr algn="l">
              <a:spcAft>
                <a:spcPts val="400"/>
              </a:spcAft>
            </a:pPr>
            <a:r>
              <a:rPr sz="4000" b="1" lang="en-US">
                <a:solidFill>
                  <a:srgbClr val="2457C5"/>
                </a:solidFill>
                <a:latin typeface="Pretendard"/>
                <a:ea typeface="Pretendard"/>
                <a:cs typeface="Pretendard"/>
              </a:rPr>
              <a:t>+0.72</a:t>
            </a:r>
          </a:p>
        </p:txBody>
      </p:sp>
      <p:sp>
        <p:nvSpPr>
          <p:cNvPr id="6" name="body"/>
          <p:cNvSpPr txBox="1"/>
          <p:nvPr/>
        </p:nvSpPr>
        <p:spPr>
          <a:xfrm>
            <a:off x="502920" y="2544572"/>
            <a:ext cx="2377440" cy="365760"/>
          </a:xfrm>
          <a:prstGeom prst="rect">
            <a:avLst/>
          </a:prstGeom>
          <a:noFill/>
        </p:spPr>
        <p:txBody>
          <a:bodyPr wrap="square" lIns="18288" rIns="18288" tIns="18288" bIns="18288" anchor="t">
            <a:noAutofit/>
          </a:bodyPr>
          <a:lstStyle/>
          <a:p>
            <a:pPr algn="l">
              <a:spcAft>
                <a:spcPts val="400"/>
              </a:spcAft>
            </a:pPr>
            <a:r>
              <a:rPr sz="1500" b="0" lang="en-US">
                <a:solidFill>
                  <a:srgbClr val="526174"/>
                </a:solidFill>
                <a:latin typeface="Pretendard"/>
                <a:ea typeface="Pretendard"/>
                <a:cs typeface="Pretendard"/>
              </a:rPr>
              <a:t>lower bound ≥ +0.58</a:t>
            </a:r>
          </a:p>
        </p:txBody>
      </p:sp>
      <p:sp>
        <p:nvSpPr>
          <p:cNvPr id="7" name="body"/>
          <p:cNvSpPr txBox="1"/>
          <p:nvPr/>
        </p:nvSpPr>
        <p:spPr>
          <a:xfrm>
            <a:off x="3154680" y="1877059"/>
            <a:ext cx="8534399" cy="731520"/>
          </a:xfrm>
          <a:prstGeom prst="rect">
            <a:avLst/>
          </a:prstGeom>
          <a:noFill/>
        </p:spPr>
        <p:txBody>
          <a:bodyPr wrap="square" lIns="18288" rIns="18288" tIns="18288" bIns="18288" anchor="t">
            <a:noAutofit/>
          </a:bodyPr>
          <a:lstStyle/>
          <a:p>
            <a:pPr algn="l">
              <a:spcAft>
                <a:spcPts val="400"/>
              </a:spcAft>
            </a:pPr>
            <a:r>
              <a:rPr sz="2100" b="0" lang="en-US">
                <a:solidFill>
                  <a:srgbClr val="172033"/>
                </a:solidFill>
                <a:latin typeface="Pretendard"/>
                <a:ea typeface="Pretendard"/>
                <a:cs typeface="Pretendard"/>
              </a:rPr>
              <a:t>Resampling whole co-expression modules (10 to 100 modules) keeps the α − lag gap.</a:t>
            </a:r>
          </a:p>
        </p:txBody>
      </p:sp>
      <p:sp>
        <p:nvSpPr>
          <p:cNvPr id="8" name="body"/>
          <p:cNvSpPr txBox="1"/>
          <p:nvPr/>
        </p:nvSpPr>
        <p:spPr>
          <a:xfrm>
            <a:off x="3154680" y="2562860"/>
            <a:ext cx="8534399" cy="41148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coupled-on duration, 538 genes</a:t>
            </a:r>
          </a:p>
        </p:txBody>
      </p:sp>
      <p:sp>
        <p:nvSpPr>
          <p:cNvPr id="9" name="rule"/>
          <p:cNvSpPr/>
          <p:nvPr/>
        </p:nvSpPr>
        <p:spPr>
          <a:xfrm>
            <a:off x="502920" y="3047492"/>
            <a:ext cx="11186159" cy="10972"/>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
          <p:cNvSpPr txBox="1"/>
          <p:nvPr/>
        </p:nvSpPr>
        <p:spPr>
          <a:xfrm>
            <a:off x="502920" y="3157219"/>
            <a:ext cx="2377440" cy="685800"/>
          </a:xfrm>
          <a:prstGeom prst="rect">
            <a:avLst/>
          </a:prstGeom>
          <a:noFill/>
        </p:spPr>
        <p:txBody>
          <a:bodyPr wrap="square" lIns="18288" rIns="18288" tIns="18288" bIns="18288" anchor="t">
            <a:noAutofit/>
          </a:bodyPr>
          <a:lstStyle/>
          <a:p>
            <a:pPr algn="l">
              <a:spcAft>
                <a:spcPts val="400"/>
              </a:spcAft>
            </a:pPr>
            <a:r>
              <a:rPr sz="4000" b="1" lang="en-US">
                <a:solidFill>
                  <a:srgbClr val="2457C5"/>
                </a:solidFill>
                <a:latin typeface="Pretendard"/>
                <a:ea typeface="Pretendard"/>
                <a:cs typeface="Pretendard"/>
              </a:rPr>
              <a:t>54.6%</a:t>
            </a:r>
          </a:p>
        </p:txBody>
      </p:sp>
      <p:sp>
        <p:nvSpPr>
          <p:cNvPr id="11" name="body"/>
          <p:cNvSpPr txBox="1"/>
          <p:nvPr/>
        </p:nvSpPr>
        <p:spPr>
          <a:xfrm>
            <a:off x="502920" y="3870452"/>
            <a:ext cx="2377440" cy="365760"/>
          </a:xfrm>
          <a:prstGeom prst="rect">
            <a:avLst/>
          </a:prstGeom>
          <a:noFill/>
        </p:spPr>
        <p:txBody>
          <a:bodyPr wrap="square" lIns="18288" rIns="18288" tIns="18288" bIns="18288" anchor="t">
            <a:noAutofit/>
          </a:bodyPr>
          <a:lstStyle/>
          <a:p>
            <a:pPr algn="l">
              <a:spcAft>
                <a:spcPts val="400"/>
              </a:spcAft>
            </a:pPr>
            <a:r>
              <a:rPr sz="1500" b="0" lang="en-US">
                <a:solidFill>
                  <a:srgbClr val="526174"/>
                </a:solidFill>
                <a:latin typeface="Pretendard"/>
                <a:ea typeface="Pretendard"/>
                <a:cs typeface="Pretendard"/>
              </a:rPr>
              <a:t>sign agreement, n = 560</a:t>
            </a:r>
          </a:p>
        </p:txBody>
      </p:sp>
      <p:sp>
        <p:nvSpPr>
          <p:cNvPr id="12" name="body"/>
          <p:cNvSpPr txBox="1"/>
          <p:nvPr/>
        </p:nvSpPr>
        <p:spPr>
          <a:xfrm>
            <a:off x="3154680" y="3202939"/>
            <a:ext cx="8534399" cy="731520"/>
          </a:xfrm>
          <a:prstGeom prst="rect">
            <a:avLst/>
          </a:prstGeom>
          <a:noFill/>
        </p:spPr>
        <p:txBody>
          <a:bodyPr wrap="square" lIns="18288" rIns="18288" tIns="18288" bIns="18288" anchor="t">
            <a:noAutofit/>
          </a:bodyPr>
          <a:lstStyle/>
          <a:p>
            <a:pPr algn="l">
              <a:spcAft>
                <a:spcPts val="400"/>
              </a:spcAft>
            </a:pPr>
            <a:r>
              <a:rPr sz="2100" b="0" lang="en-US">
                <a:solidFill>
                  <a:srgbClr val="172033"/>
                </a:solidFill>
                <a:latin typeface="Pretendard"/>
                <a:ea typeface="Pretendard"/>
                <a:cs typeface="Pretendard"/>
              </a:rPr>
              <a:t>Methods barely agree on direction; chromatin leads in 41–49% of genes.</a:t>
            </a:r>
          </a:p>
        </p:txBody>
      </p:sp>
      <p:sp>
        <p:nvSpPr>
          <p:cNvPr id="13" name="body"/>
          <p:cNvSpPr txBox="1"/>
          <p:nvPr/>
        </p:nvSpPr>
        <p:spPr>
          <a:xfrm>
            <a:off x="3154680" y="3888739"/>
            <a:ext cx="8534399" cy="41148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a genome-wide “chromatin primes transcription” ordering is not supported</a:t>
            </a:r>
          </a:p>
        </p:txBody>
      </p:sp>
      <p:sp>
        <p:nvSpPr>
          <p:cNvPr id="14" name="rule"/>
          <p:cNvSpPr/>
          <p:nvPr/>
        </p:nvSpPr>
        <p:spPr>
          <a:xfrm>
            <a:off x="502920" y="4373372"/>
            <a:ext cx="11186159" cy="10972"/>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body"/>
          <p:cNvSpPr txBox="1"/>
          <p:nvPr/>
        </p:nvSpPr>
        <p:spPr>
          <a:xfrm>
            <a:off x="502920" y="4483100"/>
            <a:ext cx="2377440" cy="685800"/>
          </a:xfrm>
          <a:prstGeom prst="rect">
            <a:avLst/>
          </a:prstGeom>
          <a:noFill/>
        </p:spPr>
        <p:txBody>
          <a:bodyPr wrap="square" lIns="18288" rIns="18288" tIns="18288" bIns="18288" anchor="t">
            <a:noAutofit/>
          </a:bodyPr>
          <a:lstStyle/>
          <a:p>
            <a:pPr algn="l">
              <a:spcAft>
                <a:spcPts val="400"/>
              </a:spcAft>
            </a:pPr>
            <a:r>
              <a:rPr sz="4000" b="1" lang="en-US">
                <a:solidFill>
                  <a:srgbClr val="2457C5"/>
                </a:solidFill>
                <a:latin typeface="Pretendard"/>
                <a:ea typeface="Pretendard"/>
                <a:cs typeface="Pretendard"/>
              </a:rPr>
              <a:t>+0.624</a:t>
            </a:r>
          </a:p>
        </p:txBody>
      </p:sp>
      <p:sp>
        <p:nvSpPr>
          <p:cNvPr id="16" name="body"/>
          <p:cNvSpPr txBox="1"/>
          <p:nvPr/>
        </p:nvSpPr>
        <p:spPr>
          <a:xfrm>
            <a:off x="502920" y="5196332"/>
            <a:ext cx="2377440" cy="365760"/>
          </a:xfrm>
          <a:prstGeom prst="rect">
            <a:avLst/>
          </a:prstGeom>
          <a:noFill/>
        </p:spPr>
        <p:txBody>
          <a:bodyPr wrap="square" lIns="18288" rIns="18288" tIns="18288" bIns="18288" anchor="t">
            <a:noAutofit/>
          </a:bodyPr>
          <a:lstStyle/>
          <a:p>
            <a:pPr algn="l">
              <a:spcAft>
                <a:spcPts val="400"/>
              </a:spcAft>
            </a:pPr>
            <a:r>
              <a:rPr sz="1500" b="0" lang="en-US">
                <a:solidFill>
                  <a:srgbClr val="526174"/>
                </a:solidFill>
                <a:latin typeface="Pretendard"/>
                <a:ea typeface="Pretendard"/>
                <a:cs typeface="Pretendard"/>
              </a:rPr>
              <a:t>vs α +0.949</a:t>
            </a:r>
          </a:p>
        </p:txBody>
      </p:sp>
      <p:sp>
        <p:nvSpPr>
          <p:cNvPr id="17" name="body"/>
          <p:cNvSpPr txBox="1"/>
          <p:nvPr/>
        </p:nvSpPr>
        <p:spPr>
          <a:xfrm>
            <a:off x="3154680" y="4528820"/>
            <a:ext cx="8534399" cy="731520"/>
          </a:xfrm>
          <a:prstGeom prst="rect">
            <a:avLst/>
          </a:prstGeom>
          <a:noFill/>
        </p:spPr>
        <p:txBody>
          <a:bodyPr wrap="square" lIns="18288" rIns="18288" tIns="18288" bIns="18288" anchor="t">
            <a:noAutofit/>
          </a:bodyPr>
          <a:lstStyle/>
          <a:p>
            <a:pPr algn="l">
              <a:spcAft>
                <a:spcPts val="400"/>
              </a:spcAft>
            </a:pPr>
            <a:r>
              <a:rPr sz="2100" b="0" lang="en-US">
                <a:solidFill>
                  <a:srgbClr val="172033"/>
                </a:solidFill>
                <a:latin typeface="Pretendard"/>
                <a:ea typeface="Pretendard"/>
                <a:cs typeface="Pretendard"/>
              </a:rPr>
              <a:t>Refitting MultiVelo on 12 overlapping 70% subsamples: the coupled-on duration is moderately stable.</a:t>
            </a:r>
          </a:p>
        </p:txBody>
      </p:sp>
      <p:sp>
        <p:nvSpPr>
          <p:cNvPr id="18" name="body"/>
          <p:cNvSpPr txBox="1"/>
          <p:nvPr/>
        </p:nvSpPr>
        <p:spPr>
          <a:xfrm>
            <a:off x="3154680" y="5214620"/>
            <a:ext cx="8534399" cy="41148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the failure is across methods and definitions, not only fitting noise; priming interval not refit-tested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The fitted lag barely depends on pairing each cell's chromatin with its own RNA</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MultiVelo refit after within-lineage ATAC shuffle, one realization, 538 genes; ρ CI from 10,000 gene bootstraps.</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6</a:t>
            </a:r>
          </a:p>
        </p:txBody>
      </p:sp>
      <p:pic>
        <p:nvPicPr>
          <p:cNvPr id="6" name="fig-shuffle" descr="figT01_atac_shuffle_priming.png"/>
          <p:cNvPicPr>
            <a:picLocks noChangeAspect="1"/>
          </p:cNvPicPr>
          <p:nvPr/>
        </p:nvPicPr>
        <p:blipFill>
          <a:blip r:embed="rId2"/>
          <a:stretch>
            <a:fillRect/>
          </a:stretch>
        </p:blipFill>
        <p:spPr>
          <a:xfrm>
            <a:off x="1858433" y="1739900"/>
            <a:ext cx="8475133" cy="3520440"/>
          </a:xfrm>
          <a:prstGeom prst="rect">
            <a:avLst/>
          </a:prstGeom>
        </p:spPr>
      </p:pic>
      <p:sp>
        <p:nvSpPr>
          <p:cNvPr id="7" name="box"/>
          <p:cNvSpPr/>
          <p:nvPr/>
        </p:nvSpPr>
        <p:spPr>
          <a:xfrm>
            <a:off x="502920" y="5370068"/>
            <a:ext cx="11186159" cy="914400"/>
          </a:xfrm>
          <a:prstGeom prst="roundRect">
            <a:avLst>
              <a:gd name="adj" fmla="val 12000"/>
            </a:avLst>
          </a:prstGeom>
          <a:solidFill>
            <a:srgbClr val="F2F5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
          <p:cNvSpPr txBox="1"/>
          <p:nvPr/>
        </p:nvSpPr>
        <p:spPr>
          <a:xfrm>
            <a:off x="685800" y="5424932"/>
            <a:ext cx="10820399" cy="804672"/>
          </a:xfrm>
          <a:prstGeom prst="rect">
            <a:avLst/>
          </a:prstGeom>
          <a:noFill/>
        </p:spPr>
        <p:txBody>
          <a:bodyPr wrap="square" lIns="18288" rIns="18288" tIns="18288" bIns="18288" anchor="ctr">
            <a:noAutofit/>
          </a:bodyPr>
          <a:lstStyle/>
          <a:p>
            <a:pPr algn="l">
              <a:spcAft>
                <a:spcPts val="400"/>
              </a:spcAft>
            </a:pPr>
            <a:r>
              <a:rPr sz="1600" b="0" lang="en-US">
                <a:solidFill>
                  <a:srgbClr val="172033"/>
                </a:solidFill>
                <a:latin typeface="Pretendard"/>
                <a:ea typeface="Pretendard"/>
                <a:cs typeface="Pretendard"/>
              </a:rPr>
              <a:t>Coupled-on duration: ρ 0.72.  Chromatin likelihood 0.239 → 0.237.  The shuffle keeps lineage-level chromatin, so it does not show that chromatin contributes nothing; the cell × gene velocity matrix shows a small, bounded chromatin contribution.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The α-over-lag ordering replicates in five external multiomes</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BMMC, bone marrow mononuclear cells. Within α: median of 3 method pairs. Lag: magnitude, coupled-on duration vs rate proxy. One sample per system.</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7</a:t>
            </a:r>
          </a:p>
        </p:txBody>
      </p:sp>
      <p:graphicFrame>
        <p:nvGraphicFramePr>
          <p:cNvPr id="6" name="table"/>
          <p:cNvGraphicFramePr>
            <a:graphicFrameLocks noGrp="1"/>
          </p:cNvGraphicFramePr>
          <p:nvPr/>
        </p:nvGraphicFramePr>
        <p:xfrm>
          <a:off x="502920" y="1648459"/>
          <a:ext cx="11173968" cy="3566160"/>
        </p:xfrm>
        <a:graphic>
          <a:graphicData uri="http://schemas.openxmlformats.org/drawingml/2006/table">
            <a:tbl>
              <a:tblPr firstRow="1" bandRow="1">
                <a:tableStyleId>{5C22544A-7EE6-4342-B048-85BDC9FD1C3A}</a:tableStyleId>
              </a:tblPr>
              <a:tblGrid>
                <a:gridCol w="3657600"/>
                <a:gridCol w="1554480"/>
                <a:gridCol w="1188720"/>
                <a:gridCol w="1591056"/>
                <a:gridCol w="1591056"/>
                <a:gridCol w="1591056"/>
              </a:tblGrid>
              <a:tr h="509451">
                <a:tc>
                  <a:txBody>
                    <a:bodyPr wrap="square"/>
                    <a:lstStyle/>
                    <a:p>
                      <a:pPr algn="l"/>
                      <a:r>
                        <a:rPr sz="1600" b="1" lang="en-US">
                          <a:solidFill>
                            <a:srgbClr val="FFFFFF"/>
                          </a:solidFill>
                          <a:latin typeface="Pretendard"/>
                          <a:ea typeface="Pretendard"/>
                          <a:cs typeface="Pretendard"/>
                        </a:rPr>
                        <a:t>System</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Relation</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Within α</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Within lag</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Cross α</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Cross lag</a:t>
                      </a:r>
                    </a:p>
                  </a:txBody>
                  <a:tcPr marL="73152" marR="73152" marT="36576" marB="36576" anchor="ctr">
                    <a:solidFill>
                      <a:srgbClr val="2457C5"/>
                    </a:solidFill>
                  </a:tcPr>
                </a:tc>
              </a:tr>
              <a:tr h="509451">
                <a:tc>
                  <a:txBody>
                    <a:bodyPr wrap="square"/>
                    <a:lstStyle/>
                    <a:p>
                      <a:pPr algn="l"/>
                      <a:r>
                        <a:rPr sz="1600" b="1" lang="en-US">
                          <a:solidFill>
                            <a:srgbClr val="172033"/>
                          </a:solidFill>
                          <a:latin typeface="Pretendard"/>
                          <a:ea typeface="Pretendard"/>
                          <a:cs typeface="Pretendard"/>
                        </a:rPr>
                        <a:t>HSPC (GSE209878)</a:t>
                      </a:r>
                    </a:p>
                  </a:txBody>
                  <a:tcPr marL="73152" marR="73152" marT="36576" marB="36576" anchor="ctr">
                    <a:solidFill>
                      <a:srgbClr val="FFFFFF"/>
                    </a:solidFill>
                  </a:tcPr>
                </a:tc>
                <a:tc>
                  <a:txBody>
                    <a:bodyPr wrap="square"/>
                    <a:lstStyle/>
                    <a:p>
                      <a:pPr algn="ctr"/>
                      <a:r>
                        <a:rPr sz="1600" b="0" lang="en-US">
                          <a:solidFill>
                            <a:srgbClr val="172033"/>
                          </a:solidFill>
                          <a:latin typeface="Pretendard"/>
                          <a:ea typeface="Pretendard"/>
                          <a:cs typeface="Pretendard"/>
                        </a:rPr>
                        <a:t>primary</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+0.882</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+0.163</a:t>
                      </a:r>
                    </a:p>
                    <a:p>
                      <a:pPr algn="ctr"/>
                      <a:r>
                        <a:rPr sz="1300" b="0" lang="en-US">
                          <a:solidFill>
                            <a:srgbClr val="526174"/>
                          </a:solidFill>
                          <a:latin typeface="Pretendard"/>
                          <a:ea typeface="Pretendard"/>
                          <a:cs typeface="Pretendard"/>
                        </a:rPr>
                        <a:t>[+0.078, +0.244]</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a:t>
                      </a:r>
                    </a:p>
                  </a:txBody>
                  <a:tcPr marL="73152" marR="73152" marT="36576" marB="36576" anchor="ctr">
                    <a:solidFill>
                      <a:srgbClr val="FFFFFF"/>
                    </a:solidFill>
                  </a:tcPr>
                </a:tc>
              </a:tr>
              <a:tr h="509451">
                <a:tc>
                  <a:txBody>
                    <a:bodyPr wrap="square"/>
                    <a:lstStyle/>
                    <a:p>
                      <a:pPr algn="l"/>
                      <a:r>
                        <a:rPr sz="1600" b="1" lang="en-US">
                          <a:solidFill>
                            <a:srgbClr val="172033"/>
                          </a:solidFill>
                          <a:latin typeface="Pretendard"/>
                          <a:ea typeface="Pretendard"/>
                          <a:cs typeface="Pretendard"/>
                        </a:rPr>
                        <a:t>Macrophage (GSE284047)</a:t>
                      </a:r>
                    </a:p>
                  </a:txBody>
                  <a:tcPr marL="73152" marR="73152" marT="36576" marB="36576" anchor="ctr">
                    <a:solidFill>
                      <a:srgbClr val="F8FAFD"/>
                    </a:solidFill>
                  </a:tcPr>
                </a:tc>
                <a:tc>
                  <a:txBody>
                    <a:bodyPr wrap="square"/>
                    <a:lstStyle/>
                    <a:p>
                      <a:pPr algn="ctr"/>
                      <a:r>
                        <a:rPr sz="1600" b="0" lang="en-US">
                          <a:solidFill>
                            <a:srgbClr val="172033"/>
                          </a:solidFill>
                          <a:latin typeface="Pretendard"/>
                          <a:ea typeface="Pretendard"/>
                          <a:cs typeface="Pretendard"/>
                        </a:rPr>
                        <a:t>HSPC-derived</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+0.865</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+0.074</a:t>
                      </a:r>
                    </a:p>
                    <a:p>
                      <a:pPr algn="ctr"/>
                      <a:r>
                        <a:rPr sz="1300" b="0" lang="en-US">
                          <a:solidFill>
                            <a:srgbClr val="526174"/>
                          </a:solidFill>
                          <a:latin typeface="Pretendard"/>
                          <a:ea typeface="Pretendard"/>
                          <a:cs typeface="Pretendard"/>
                        </a:rPr>
                        <a:t>[+0.006, +0.143]</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+0.643</a:t>
                      </a:r>
                    </a:p>
                    <a:p>
                      <a:pPr algn="ctr"/>
                      <a:r>
                        <a:rPr sz="1300" b="0" lang="en-US">
                          <a:solidFill>
                            <a:srgbClr val="526174"/>
                          </a:solidFill>
                          <a:latin typeface="Pretendard"/>
                          <a:ea typeface="Pretendard"/>
                          <a:cs typeface="Pretendard"/>
                        </a:rPr>
                        <a:t>[+0.554, +0.719]</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+0.148</a:t>
                      </a:r>
                    </a:p>
                    <a:p>
                      <a:pPr algn="ctr"/>
                      <a:r>
                        <a:rPr sz="1300" b="0" lang="en-US">
                          <a:solidFill>
                            <a:srgbClr val="526174"/>
                          </a:solidFill>
                          <a:latin typeface="Pretendard"/>
                          <a:ea typeface="Pretendard"/>
                          <a:cs typeface="Pretendard"/>
                        </a:rPr>
                        <a:t>[+0.027, +0.263]</a:t>
                      </a:r>
                    </a:p>
                  </a:txBody>
                  <a:tcPr marL="73152" marR="73152" marT="36576" marB="36576" anchor="ctr">
                    <a:solidFill>
                      <a:srgbClr val="F8FAFD"/>
                    </a:solidFill>
                  </a:tcPr>
                </a:tc>
              </a:tr>
              <a:tr h="509451">
                <a:tc>
                  <a:txBody>
                    <a:bodyPr wrap="square"/>
                    <a:lstStyle/>
                    <a:p>
                      <a:pPr algn="l"/>
                      <a:r>
                        <a:rPr sz="1600" b="1" lang="en-US">
                          <a:solidFill>
                            <a:srgbClr val="172033"/>
                          </a:solidFill>
                          <a:latin typeface="Pretendard"/>
                          <a:ea typeface="Pretendard"/>
                          <a:cs typeface="Pretendard"/>
                        </a:rPr>
                        <a:t>Human BMMC (GSE194122)</a:t>
                      </a:r>
                    </a:p>
                  </a:txBody>
                  <a:tcPr marL="73152" marR="73152" marT="36576" marB="36576" anchor="ctr">
                    <a:solidFill>
                      <a:srgbClr val="FFFFFF"/>
                    </a:solidFill>
                  </a:tcPr>
                </a:tc>
                <a:tc>
                  <a:txBody>
                    <a:bodyPr wrap="square"/>
                    <a:lstStyle/>
                    <a:p>
                      <a:pPr algn="ctr"/>
                      <a:r>
                        <a:rPr sz="1600" b="0" lang="en-US">
                          <a:solidFill>
                            <a:srgbClr val="172033"/>
                          </a:solidFill>
                          <a:latin typeface="Pretendard"/>
                          <a:ea typeface="Pretendard"/>
                          <a:cs typeface="Pretendard"/>
                        </a:rPr>
                        <a:t>same tissue</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+0.851</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−0.088</a:t>
                      </a:r>
                    </a:p>
                    <a:p>
                      <a:pPr algn="ctr"/>
                      <a:r>
                        <a:rPr sz="1300" b="0" lang="en-US">
                          <a:solidFill>
                            <a:srgbClr val="526174"/>
                          </a:solidFill>
                          <a:latin typeface="Pretendard"/>
                          <a:ea typeface="Pretendard"/>
                          <a:cs typeface="Pretendard"/>
                        </a:rPr>
                        <a:t>[−0.209, +0.034]</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+0.550</a:t>
                      </a:r>
                    </a:p>
                    <a:p>
                      <a:pPr algn="ctr"/>
                      <a:r>
                        <a:rPr sz="1300" b="0" lang="en-US">
                          <a:solidFill>
                            <a:srgbClr val="526174"/>
                          </a:solidFill>
                          <a:latin typeface="Pretendard"/>
                          <a:ea typeface="Pretendard"/>
                          <a:cs typeface="Pretendard"/>
                        </a:rPr>
                        <a:t>[+0.368, +0.696]</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+0.052</a:t>
                      </a:r>
                    </a:p>
                    <a:p>
                      <a:pPr algn="ctr"/>
                      <a:r>
                        <a:rPr sz="1300" b="0" lang="en-US">
                          <a:solidFill>
                            <a:srgbClr val="526174"/>
                          </a:solidFill>
                          <a:latin typeface="Pretendard"/>
                          <a:ea typeface="Pretendard"/>
                          <a:cs typeface="Pretendard"/>
                        </a:rPr>
                        <a:t>[−0.164, +0.262]</a:t>
                      </a:r>
                    </a:p>
                  </a:txBody>
                  <a:tcPr marL="73152" marR="73152" marT="36576" marB="36576" anchor="ctr">
                    <a:solidFill>
                      <a:srgbClr val="FFFFFF"/>
                    </a:solidFill>
                  </a:tcPr>
                </a:tc>
              </a:tr>
              <a:tr h="509451">
                <a:tc>
                  <a:txBody>
                    <a:bodyPr wrap="square"/>
                    <a:lstStyle/>
                    <a:p>
                      <a:pPr algn="l"/>
                      <a:r>
                        <a:rPr sz="1600" b="1" lang="en-US">
                          <a:solidFill>
                            <a:srgbClr val="172033"/>
                          </a:solidFill>
                          <a:latin typeface="Pretendard"/>
                          <a:ea typeface="Pretendard"/>
                          <a:cs typeface="Pretendard"/>
                        </a:rPr>
                        <a:t>Human fetal cortex (GSE162170)</a:t>
                      </a:r>
                    </a:p>
                  </a:txBody>
                  <a:tcPr marL="73152" marR="73152" marT="36576" marB="36576" anchor="ctr">
                    <a:solidFill>
                      <a:srgbClr val="F8FAFD"/>
                    </a:solidFill>
                  </a:tcPr>
                </a:tc>
                <a:tc>
                  <a:txBody>
                    <a:bodyPr wrap="square"/>
                    <a:lstStyle/>
                    <a:p>
                      <a:pPr algn="ctr"/>
                      <a:r>
                        <a:rPr sz="1600" b="0" lang="en-US">
                          <a:solidFill>
                            <a:srgbClr val="172033"/>
                          </a:solidFill>
                          <a:latin typeface="Pretendard"/>
                          <a:ea typeface="Pretendard"/>
                          <a:cs typeface="Pretendard"/>
                        </a:rPr>
                        <a:t>distant</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N/A*</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−0.052*</a:t>
                      </a:r>
                    </a:p>
                    <a:p>
                      <a:pPr algn="ctr"/>
                      <a:r>
                        <a:rPr sz="1300" b="0" lang="en-US">
                          <a:solidFill>
                            <a:srgbClr val="526174"/>
                          </a:solidFill>
                          <a:latin typeface="Pretendard"/>
                          <a:ea typeface="Pretendard"/>
                          <a:cs typeface="Pretendard"/>
                        </a:rPr>
                        <a:t>[−0.135, +0.029]</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+0.475</a:t>
                      </a:r>
                    </a:p>
                    <a:p>
                      <a:pPr algn="ctr"/>
                      <a:r>
                        <a:rPr sz="1300" b="0" lang="en-US">
                          <a:solidFill>
                            <a:srgbClr val="526174"/>
                          </a:solidFill>
                          <a:latin typeface="Pretendard"/>
                          <a:ea typeface="Pretendard"/>
                          <a:cs typeface="Pretendard"/>
                        </a:rPr>
                        <a:t>[+0.292, +0.626]</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+0.185</a:t>
                      </a:r>
                    </a:p>
                    <a:p>
                      <a:pPr algn="ctr"/>
                      <a:r>
                        <a:rPr sz="1300" b="0" lang="en-US">
                          <a:solidFill>
                            <a:srgbClr val="526174"/>
                          </a:solidFill>
                          <a:latin typeface="Pretendard"/>
                          <a:ea typeface="Pretendard"/>
                          <a:cs typeface="Pretendard"/>
                        </a:rPr>
                        <a:t>[−0.005, +0.369]</a:t>
                      </a:r>
                    </a:p>
                  </a:txBody>
                  <a:tcPr marL="73152" marR="73152" marT="36576" marB="36576" anchor="ctr">
                    <a:solidFill>
                      <a:srgbClr val="F8FAFD"/>
                    </a:solidFill>
                  </a:tcPr>
                </a:tc>
              </a:tr>
              <a:tr h="509451">
                <a:tc>
                  <a:txBody>
                    <a:bodyPr wrap="square"/>
                    <a:lstStyle/>
                    <a:p>
                      <a:pPr algn="l"/>
                      <a:r>
                        <a:rPr sz="1600" b="1" lang="en-US">
                          <a:solidFill>
                            <a:srgbClr val="172033"/>
                          </a:solidFill>
                          <a:latin typeface="Pretendard"/>
                          <a:ea typeface="Pretendard"/>
                          <a:cs typeface="Pretendard"/>
                        </a:rPr>
                        <a:t>Mouse gastrulation (GSE205117)</a:t>
                      </a:r>
                    </a:p>
                  </a:txBody>
                  <a:tcPr marL="73152" marR="73152" marT="36576" marB="36576" anchor="ctr">
                    <a:solidFill>
                      <a:srgbClr val="F2F5FC"/>
                    </a:solidFill>
                  </a:tcPr>
                </a:tc>
                <a:tc>
                  <a:txBody>
                    <a:bodyPr wrap="square"/>
                    <a:lstStyle/>
                    <a:p>
                      <a:pPr algn="ctr"/>
                      <a:r>
                        <a:rPr sz="1600" b="0" lang="en-US">
                          <a:solidFill>
                            <a:srgbClr val="172033"/>
                          </a:solidFill>
                          <a:latin typeface="Pretendard"/>
                          <a:ea typeface="Pretendard"/>
                          <a:cs typeface="Pretendard"/>
                        </a:rPr>
                        <a:t>developmental</a:t>
                      </a:r>
                    </a:p>
                  </a:txBody>
                  <a:tcPr marL="73152" marR="73152" marT="36576" marB="36576" anchor="ctr">
                    <a:solidFill>
                      <a:srgbClr val="F2F5FC"/>
                    </a:solidFill>
                  </a:tcPr>
                </a:tc>
                <a:tc>
                  <a:txBody>
                    <a:bodyPr wrap="square"/>
                    <a:lstStyle/>
                    <a:p>
                      <a:pPr algn="ctr"/>
                      <a:r>
                        <a:rPr sz="1800" b="1" lang="en-US">
                          <a:solidFill>
                            <a:srgbClr val="2457C5"/>
                          </a:solidFill>
                          <a:latin typeface="Pretendard"/>
                          <a:ea typeface="Pretendard"/>
                          <a:cs typeface="Pretendard"/>
                        </a:rPr>
                        <a:t>+0.927</a:t>
                      </a:r>
                    </a:p>
                  </a:txBody>
                  <a:tcPr marL="73152" marR="73152" marT="36576" marB="36576" anchor="ctr">
                    <a:solidFill>
                      <a:srgbClr val="F2F5FC"/>
                    </a:solidFill>
                  </a:tcPr>
                </a:tc>
                <a:tc>
                  <a:txBody>
                    <a:bodyPr wrap="square"/>
                    <a:lstStyle/>
                    <a:p>
                      <a:pPr algn="ctr"/>
                      <a:r>
                        <a:rPr sz="1800" b="1" lang="en-US">
                          <a:solidFill>
                            <a:srgbClr val="2457C5"/>
                          </a:solidFill>
                          <a:latin typeface="Pretendard"/>
                          <a:ea typeface="Pretendard"/>
                          <a:cs typeface="Pretendard"/>
                        </a:rPr>
                        <a:t>−0.026</a:t>
                      </a:r>
                    </a:p>
                    <a:p>
                      <a:pPr algn="ctr"/>
                      <a:r>
                        <a:rPr sz="1300" b="0" lang="en-US">
                          <a:solidFill>
                            <a:srgbClr val="526174"/>
                          </a:solidFill>
                          <a:latin typeface="Pretendard"/>
                          <a:ea typeface="Pretendard"/>
                          <a:cs typeface="Pretendard"/>
                        </a:rPr>
                        <a:t>[−0.089, +0.038]</a:t>
                      </a:r>
                    </a:p>
                  </a:txBody>
                  <a:tcPr marL="73152" marR="73152" marT="36576" marB="36576" anchor="ctr">
                    <a:solidFill>
                      <a:srgbClr val="F2F5FC"/>
                    </a:solidFill>
                  </a:tcPr>
                </a:tc>
                <a:tc>
                  <a:txBody>
                    <a:bodyPr wrap="square"/>
                    <a:lstStyle/>
                    <a:p>
                      <a:pPr algn="ctr"/>
                      <a:r>
                        <a:rPr sz="1800" b="1" lang="en-US">
                          <a:solidFill>
                            <a:srgbClr val="2457C5"/>
                          </a:solidFill>
                          <a:latin typeface="Pretendard"/>
                          <a:ea typeface="Pretendard"/>
                          <a:cs typeface="Pretendard"/>
                        </a:rPr>
                        <a:t>+0.415</a:t>
                      </a:r>
                    </a:p>
                    <a:p>
                      <a:pPr algn="ctr"/>
                      <a:r>
                        <a:rPr sz="1300" b="0" lang="en-US">
                          <a:solidFill>
                            <a:srgbClr val="526174"/>
                          </a:solidFill>
                          <a:latin typeface="Pretendard"/>
                          <a:ea typeface="Pretendard"/>
                          <a:cs typeface="Pretendard"/>
                        </a:rPr>
                        <a:t>[+0.244, +0.561]</a:t>
                      </a:r>
                    </a:p>
                  </a:txBody>
                  <a:tcPr marL="73152" marR="73152" marT="36576" marB="36576" anchor="ctr">
                    <a:solidFill>
                      <a:srgbClr val="F2F5FC"/>
                    </a:solidFill>
                  </a:tcPr>
                </a:tc>
                <a:tc>
                  <a:txBody>
                    <a:bodyPr wrap="square"/>
                    <a:lstStyle/>
                    <a:p>
                      <a:pPr algn="ctr"/>
                      <a:r>
                        <a:rPr sz="1800" b="1" lang="en-US">
                          <a:solidFill>
                            <a:srgbClr val="2457C5"/>
                          </a:solidFill>
                          <a:latin typeface="Pretendard"/>
                          <a:ea typeface="Pretendard"/>
                          <a:cs typeface="Pretendard"/>
                        </a:rPr>
                        <a:t>+0.028</a:t>
                      </a:r>
                    </a:p>
                    <a:p>
                      <a:pPr algn="ctr"/>
                      <a:r>
                        <a:rPr sz="1300" b="0" lang="en-US">
                          <a:solidFill>
                            <a:srgbClr val="526174"/>
                          </a:solidFill>
                          <a:latin typeface="Pretendard"/>
                          <a:ea typeface="Pretendard"/>
                          <a:cs typeface="Pretendard"/>
                        </a:rPr>
                        <a:t>[−0.165, +0.224]</a:t>
                      </a:r>
                    </a:p>
                  </a:txBody>
                  <a:tcPr marL="73152" marR="73152" marT="36576" marB="36576" anchor="ctr">
                    <a:solidFill>
                      <a:srgbClr val="F2F5FC"/>
                    </a:solidFill>
                  </a:tcPr>
                </a:tc>
              </a:tr>
              <a:tr h="509454">
                <a:tc>
                  <a:txBody>
                    <a:bodyPr wrap="square"/>
                    <a:lstStyle/>
                    <a:p>
                      <a:pPr algn="l"/>
                      <a:r>
                        <a:rPr sz="1600" b="1" lang="en-US">
                          <a:solidFill>
                            <a:srgbClr val="172033"/>
                          </a:solidFill>
                          <a:latin typeface="Pretendard"/>
                          <a:ea typeface="Pretendard"/>
                          <a:cs typeface="Pretendard"/>
                        </a:rPr>
                        <a:t>E18 mouse brain (10x)</a:t>
                      </a:r>
                    </a:p>
                  </a:txBody>
                  <a:tcPr marL="73152" marR="73152" marT="36576" marB="36576" anchor="ctr">
                    <a:solidFill>
                      <a:srgbClr val="F8FAFD"/>
                    </a:solidFill>
                  </a:tcPr>
                </a:tc>
                <a:tc>
                  <a:txBody>
                    <a:bodyPr wrap="square"/>
                    <a:lstStyle/>
                    <a:p>
                      <a:pPr algn="ctr"/>
                      <a:r>
                        <a:rPr sz="1600" b="0" lang="en-US">
                          <a:solidFill>
                            <a:srgbClr val="172033"/>
                          </a:solidFill>
                          <a:latin typeface="Pretendard"/>
                          <a:ea typeface="Pretendard"/>
                          <a:cs typeface="Pretendard"/>
                        </a:rPr>
                        <a:t>cross-species</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+0.810</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+0.057</a:t>
                      </a:r>
                    </a:p>
                    <a:p>
                      <a:pPr algn="ctr"/>
                      <a:r>
                        <a:rPr sz="1300" b="0" lang="en-US">
                          <a:solidFill>
                            <a:srgbClr val="526174"/>
                          </a:solidFill>
                          <a:latin typeface="Pretendard"/>
                          <a:ea typeface="Pretendard"/>
                          <a:cs typeface="Pretendard"/>
                        </a:rPr>
                        <a:t>[−0.005, +0.118]</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+0.321</a:t>
                      </a:r>
                    </a:p>
                    <a:p>
                      <a:pPr algn="ctr"/>
                      <a:r>
                        <a:rPr sz="1300" b="0" lang="en-US">
                          <a:solidFill>
                            <a:srgbClr val="526174"/>
                          </a:solidFill>
                          <a:latin typeface="Pretendard"/>
                          <a:ea typeface="Pretendard"/>
                          <a:cs typeface="Pretendard"/>
                        </a:rPr>
                        <a:t>[+0.158, +0.472]</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+0.105</a:t>
                      </a:r>
                    </a:p>
                    <a:p>
                      <a:pPr algn="ctr"/>
                      <a:r>
                        <a:rPr sz="1300" b="0" lang="en-US">
                          <a:solidFill>
                            <a:srgbClr val="526174"/>
                          </a:solidFill>
                          <a:latin typeface="Pretendard"/>
                          <a:ea typeface="Pretendard"/>
                          <a:cs typeface="Pretendard"/>
                        </a:rPr>
                        <a:t>[−0.069, +0.269]</a:t>
                      </a:r>
                    </a:p>
                  </a:txBody>
                  <a:tcPr marL="73152" marR="73152" marT="36576" marB="36576" anchor="ctr">
                    <a:solidFill>
                      <a:srgbClr val="F8FAFD"/>
                    </a:solidFill>
                  </a:tcPr>
                </a:tc>
              </a:tr>
            </a:tbl>
          </a:graphicData>
        </a:graphic>
      </p:graphicFrame>
      <p:sp>
        <p:nvSpPr>
          <p:cNvPr id="7" name="body"/>
          <p:cNvSpPr txBox="1"/>
          <p:nvPr/>
        </p:nvSpPr>
        <p:spPr>
          <a:xfrm>
            <a:off x="502920" y="5486400"/>
            <a:ext cx="11186159" cy="914400"/>
          </a:xfrm>
          <a:prstGeom prst="rect">
            <a:avLst/>
          </a:prstGeom>
          <a:noFill/>
        </p:spPr>
        <p:txBody>
          <a:bodyPr wrap="square" lIns="18288" rIns="18288" tIns="18288" bIns="18288" anchor="t">
            <a:noAutofit/>
          </a:bodyPr>
          <a:lstStyle/>
          <a:p>
            <a:pPr algn="l">
              <a:spcAft>
                <a:spcPts val="400"/>
              </a:spcAft>
            </a:pPr>
            <a:r>
              <a:rPr sz="1450" b="0" lang="en-US">
                <a:solidFill>
                  <a:srgbClr val="172033"/>
                </a:solidFill>
                <a:latin typeface="Pretendard"/>
                <a:ea typeface="Pretendard"/>
                <a:cs typeface="Pretendard"/>
              </a:rPr>
              <a:t/>
            </a:r>
            <a:r>
              <a:rPr sz="1450" b="1" i="0" lang="en-US">
                <a:solidFill>
                  <a:srgbClr val="2457C5"/>
                </a:solidFill>
                <a:latin typeface="Pretendard"/>
                <a:ea typeface="Pretendard"/>
                <a:cs typeface="Pretendard"/>
              </a:rPr>
              <a:t>Same gene pairs, α minus lag: </a:t>
            </a:r>
            <a:r>
              <a:rPr sz="1450" b="0" i="0" lang="en-US">
                <a:solidFill>
                  <a:srgbClr val="172033"/>
                </a:solidFill>
                <a:latin typeface="Pretendard"/>
                <a:ea typeface="Pretendard"/>
                <a:cs typeface="Pretendard"/>
              </a:rPr>
              <a:t>macrophage Δρ +0.843 [+0.773, +0.912], mouse gastrulation Δρ +0.979 [+0.916, +1.041].  </a:t>
            </a:r>
            <a:r>
              <a:rPr sz="1450" b="1" i="0" lang="en-US">
                <a:solidFill>
                  <a:srgbClr val="2457C5"/>
                </a:solidFill>
                <a:latin typeface="Pretendard"/>
                <a:ea typeface="Pretendard"/>
                <a:cs typeface="Pretendard"/>
              </a:rPr>
              <a:t>Mouse gastrulation: </a:t>
            </a:r>
            <a:r>
              <a:rPr sz="1450" b="0" i="0" lang="en-US">
                <a:solidFill>
                  <a:srgbClr val="172033"/>
                </a:solidFill>
                <a:latin typeface="Pretendard"/>
                <a:ea typeface="Pretendard"/>
                <a:cs typeface="Pretendard"/>
              </a:rPr>
              <a:t>6 predictions sealed before any fit (e.g. α ≥ 0.50, lag ≤ 0.15, α − lag ≥ 0.35); 6 of 6 passed. Other systems were not preregistered. Cross-dataset α CIs overlap.  *Fetal cortex: no MultiVeloVAE fit; lag pair is MultiVelo × MoFlow.</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α tracks measured synthesis, but transcript abundance tracks it at least as strongly</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K562 transient transcriptome sequencing (GSE229305), non-housekeeping genes, n = 193, 235, 251; abundance: point estimate. Second source: Schwalb et al. 2016.</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8</a:t>
            </a:r>
          </a:p>
        </p:txBody>
      </p:sp>
      <p:sp>
        <p:nvSpPr>
          <p:cNvPr id="6" name="body"/>
          <p:cNvSpPr txBox="1"/>
          <p:nvPr/>
        </p:nvSpPr>
        <p:spPr>
          <a:xfrm>
            <a:off x="502920" y="1648459"/>
            <a:ext cx="6400800" cy="36576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Spearman ρ with measured synthesis rate</a:t>
            </a:r>
          </a:p>
        </p:txBody>
      </p:sp>
      <p:sp>
        <p:nvSpPr>
          <p:cNvPr id="7" name="grid"/>
          <p:cNvSpPr/>
          <p:nvPr/>
        </p:nvSpPr>
        <p:spPr>
          <a:xfrm>
            <a:off x="1371600" y="5306059"/>
            <a:ext cx="5486400" cy="14630"/>
          </a:xfrm>
          <a:prstGeom prst="rect">
            <a:avLst/>
          </a:prstGeom>
          <a:solidFill>
            <a:srgbClr val="52617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
          <p:cNvSpPr txBox="1"/>
          <p:nvPr/>
        </p:nvSpPr>
        <p:spPr>
          <a:xfrm>
            <a:off x="804672" y="5150611"/>
            <a:ext cx="457200" cy="301752"/>
          </a:xfrm>
          <a:prstGeom prst="rect">
            <a:avLst/>
          </a:prstGeom>
          <a:noFill/>
        </p:spPr>
        <p:txBody>
          <a:bodyPr wrap="square" lIns="18288" rIns="18288" tIns="18288" bIns="18288" anchor="t">
            <a:noAutofit/>
          </a:bodyPr>
          <a:lstStyle/>
          <a:p>
            <a:pPr algn="r">
              <a:spcAft>
                <a:spcPts val="400"/>
              </a:spcAft>
            </a:pPr>
            <a:r>
              <a:rPr sz="1400" b="0" lang="en-US">
                <a:solidFill>
                  <a:srgbClr val="526174"/>
                </a:solidFill>
                <a:latin typeface="Pretendard"/>
                <a:ea typeface="Pretendard"/>
                <a:cs typeface="Pretendard"/>
              </a:rPr>
              <a:t>0.0</a:t>
            </a:r>
          </a:p>
        </p:txBody>
      </p:sp>
      <p:sp>
        <p:nvSpPr>
          <p:cNvPr id="9" name="grid"/>
          <p:cNvSpPr/>
          <p:nvPr/>
        </p:nvSpPr>
        <p:spPr>
          <a:xfrm>
            <a:off x="1371600" y="4656835"/>
            <a:ext cx="5486400" cy="7315"/>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
          <p:cNvSpPr txBox="1"/>
          <p:nvPr/>
        </p:nvSpPr>
        <p:spPr>
          <a:xfrm>
            <a:off x="804672" y="4501387"/>
            <a:ext cx="457200" cy="301752"/>
          </a:xfrm>
          <a:prstGeom prst="rect">
            <a:avLst/>
          </a:prstGeom>
          <a:noFill/>
        </p:spPr>
        <p:txBody>
          <a:bodyPr wrap="square" lIns="18288" rIns="18288" tIns="18288" bIns="18288" anchor="t">
            <a:noAutofit/>
          </a:bodyPr>
          <a:lstStyle/>
          <a:p>
            <a:pPr algn="r">
              <a:spcAft>
                <a:spcPts val="400"/>
              </a:spcAft>
            </a:pPr>
            <a:r>
              <a:rPr sz="1400" b="0" lang="en-US">
                <a:solidFill>
                  <a:srgbClr val="526174"/>
                </a:solidFill>
                <a:latin typeface="Pretendard"/>
                <a:ea typeface="Pretendard"/>
                <a:cs typeface="Pretendard"/>
              </a:rPr>
              <a:t>0.1</a:t>
            </a:r>
          </a:p>
        </p:txBody>
      </p:sp>
      <p:sp>
        <p:nvSpPr>
          <p:cNvPr id="11" name="grid"/>
          <p:cNvSpPr/>
          <p:nvPr/>
        </p:nvSpPr>
        <p:spPr>
          <a:xfrm>
            <a:off x="1371600" y="4007611"/>
            <a:ext cx="5486400" cy="7315"/>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
          <p:cNvSpPr txBox="1"/>
          <p:nvPr/>
        </p:nvSpPr>
        <p:spPr>
          <a:xfrm>
            <a:off x="804672" y="3852163"/>
            <a:ext cx="457200" cy="301752"/>
          </a:xfrm>
          <a:prstGeom prst="rect">
            <a:avLst/>
          </a:prstGeom>
          <a:noFill/>
        </p:spPr>
        <p:txBody>
          <a:bodyPr wrap="square" lIns="18288" rIns="18288" tIns="18288" bIns="18288" anchor="t">
            <a:noAutofit/>
          </a:bodyPr>
          <a:lstStyle/>
          <a:p>
            <a:pPr algn="r">
              <a:spcAft>
                <a:spcPts val="400"/>
              </a:spcAft>
            </a:pPr>
            <a:r>
              <a:rPr sz="1400" b="0" lang="en-US">
                <a:solidFill>
                  <a:srgbClr val="526174"/>
                </a:solidFill>
                <a:latin typeface="Pretendard"/>
                <a:ea typeface="Pretendard"/>
                <a:cs typeface="Pretendard"/>
              </a:rPr>
              <a:t>0.2</a:t>
            </a:r>
          </a:p>
        </p:txBody>
      </p:sp>
      <p:sp>
        <p:nvSpPr>
          <p:cNvPr id="13" name="grid"/>
          <p:cNvSpPr/>
          <p:nvPr/>
        </p:nvSpPr>
        <p:spPr>
          <a:xfrm>
            <a:off x="1371600" y="3358387"/>
            <a:ext cx="5486400" cy="7315"/>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body"/>
          <p:cNvSpPr txBox="1"/>
          <p:nvPr/>
        </p:nvSpPr>
        <p:spPr>
          <a:xfrm>
            <a:off x="804672" y="3202939"/>
            <a:ext cx="457200" cy="301752"/>
          </a:xfrm>
          <a:prstGeom prst="rect">
            <a:avLst/>
          </a:prstGeom>
          <a:noFill/>
        </p:spPr>
        <p:txBody>
          <a:bodyPr wrap="square" lIns="18288" rIns="18288" tIns="18288" bIns="18288" anchor="t">
            <a:noAutofit/>
          </a:bodyPr>
          <a:lstStyle/>
          <a:p>
            <a:pPr algn="r">
              <a:spcAft>
                <a:spcPts val="400"/>
              </a:spcAft>
            </a:pPr>
            <a:r>
              <a:rPr sz="1400" b="0" lang="en-US">
                <a:solidFill>
                  <a:srgbClr val="526174"/>
                </a:solidFill>
                <a:latin typeface="Pretendard"/>
                <a:ea typeface="Pretendard"/>
                <a:cs typeface="Pretendard"/>
              </a:rPr>
              <a:t>0.3</a:t>
            </a:r>
          </a:p>
        </p:txBody>
      </p:sp>
      <p:sp>
        <p:nvSpPr>
          <p:cNvPr id="15" name="grid"/>
          <p:cNvSpPr/>
          <p:nvPr/>
        </p:nvSpPr>
        <p:spPr>
          <a:xfrm>
            <a:off x="1371600" y="2709163"/>
            <a:ext cx="5486400" cy="7315"/>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body"/>
          <p:cNvSpPr txBox="1"/>
          <p:nvPr/>
        </p:nvSpPr>
        <p:spPr>
          <a:xfrm>
            <a:off x="804672" y="2553715"/>
            <a:ext cx="457200" cy="301752"/>
          </a:xfrm>
          <a:prstGeom prst="rect">
            <a:avLst/>
          </a:prstGeom>
          <a:noFill/>
        </p:spPr>
        <p:txBody>
          <a:bodyPr wrap="square" lIns="18288" rIns="18288" tIns="18288" bIns="18288" anchor="t">
            <a:noAutofit/>
          </a:bodyPr>
          <a:lstStyle/>
          <a:p>
            <a:pPr algn="r">
              <a:spcAft>
                <a:spcPts val="400"/>
              </a:spcAft>
            </a:pPr>
            <a:r>
              <a:rPr sz="1400" b="0" lang="en-US">
                <a:solidFill>
                  <a:srgbClr val="526174"/>
                </a:solidFill>
                <a:latin typeface="Pretendard"/>
                <a:ea typeface="Pretendard"/>
                <a:cs typeface="Pretendard"/>
              </a:rPr>
              <a:t>0.4</a:t>
            </a:r>
          </a:p>
        </p:txBody>
      </p:sp>
      <p:sp>
        <p:nvSpPr>
          <p:cNvPr id="17" name="grid"/>
          <p:cNvSpPr/>
          <p:nvPr/>
        </p:nvSpPr>
        <p:spPr>
          <a:xfrm>
            <a:off x="1371600" y="2059939"/>
            <a:ext cx="5486400" cy="7315"/>
          </a:xfrm>
          <a:prstGeom prst="rect">
            <a:avLst/>
          </a:prstGeom>
          <a:solidFill>
            <a:srgbClr val="D9DEE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body"/>
          <p:cNvSpPr txBox="1"/>
          <p:nvPr/>
        </p:nvSpPr>
        <p:spPr>
          <a:xfrm>
            <a:off x="804672" y="1904491"/>
            <a:ext cx="457200" cy="301752"/>
          </a:xfrm>
          <a:prstGeom prst="rect">
            <a:avLst/>
          </a:prstGeom>
          <a:noFill/>
        </p:spPr>
        <p:txBody>
          <a:bodyPr wrap="square" lIns="18288" rIns="18288" tIns="18288" bIns="18288" anchor="t">
            <a:noAutofit/>
          </a:bodyPr>
          <a:lstStyle/>
          <a:p>
            <a:pPr algn="r">
              <a:spcAft>
                <a:spcPts val="400"/>
              </a:spcAft>
            </a:pPr>
            <a:r>
              <a:rPr sz="1400" b="0" lang="en-US">
                <a:solidFill>
                  <a:srgbClr val="526174"/>
                </a:solidFill>
                <a:latin typeface="Pretendard"/>
                <a:ea typeface="Pretendard"/>
                <a:cs typeface="Pretendard"/>
              </a:rPr>
              <a:t>0.5</a:t>
            </a:r>
          </a:p>
        </p:txBody>
      </p:sp>
      <p:sp>
        <p:nvSpPr>
          <p:cNvPr id="19" name="bar"/>
          <p:cNvSpPr/>
          <p:nvPr/>
        </p:nvSpPr>
        <p:spPr>
          <a:xfrm>
            <a:off x="1623060" y="3773891"/>
            <a:ext cx="868680" cy="153216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ci"/>
          <p:cNvSpPr/>
          <p:nvPr/>
        </p:nvSpPr>
        <p:spPr>
          <a:xfrm>
            <a:off x="2046427" y="2916915"/>
            <a:ext cx="21945" cy="1772381"/>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ci-cap"/>
          <p:cNvSpPr/>
          <p:nvPr/>
        </p:nvSpPr>
        <p:spPr>
          <a:xfrm>
            <a:off x="1947672" y="2907771"/>
            <a:ext cx="219456" cy="21945"/>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ci-cap"/>
          <p:cNvSpPr/>
          <p:nvPr/>
        </p:nvSpPr>
        <p:spPr>
          <a:xfrm>
            <a:off x="1947672" y="4680153"/>
            <a:ext cx="219456" cy="21945"/>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body"/>
          <p:cNvSpPr txBox="1"/>
          <p:nvPr/>
        </p:nvSpPr>
        <p:spPr>
          <a:xfrm>
            <a:off x="1440180" y="2532867"/>
            <a:ext cx="1234440" cy="329184"/>
          </a:xfrm>
          <a:prstGeom prst="rect">
            <a:avLst/>
          </a:prstGeom>
          <a:noFill/>
        </p:spPr>
        <p:txBody>
          <a:bodyPr wrap="square" lIns="18288" rIns="18288" tIns="18288" bIns="18288" anchor="t">
            <a:noAutofit/>
          </a:bodyPr>
          <a:lstStyle/>
          <a:p>
            <a:pPr algn="ctr">
              <a:spcAft>
                <a:spcPts val="400"/>
              </a:spcAft>
            </a:pPr>
            <a:r>
              <a:rPr sz="1700" b="1" lang="en-US">
                <a:solidFill>
                  <a:srgbClr val="172033"/>
                </a:solidFill>
                <a:latin typeface="Pretendard"/>
                <a:ea typeface="Pretendard"/>
                <a:cs typeface="Pretendard"/>
              </a:rPr>
              <a:t>+0.236</a:t>
            </a:r>
          </a:p>
        </p:txBody>
      </p:sp>
      <p:sp>
        <p:nvSpPr>
          <p:cNvPr id="24" name="body"/>
          <p:cNvSpPr txBox="1"/>
          <p:nvPr/>
        </p:nvSpPr>
        <p:spPr>
          <a:xfrm>
            <a:off x="1348739" y="5379211"/>
            <a:ext cx="1417319" cy="594360"/>
          </a:xfrm>
          <a:prstGeom prst="rect">
            <a:avLst/>
          </a:prstGeom>
          <a:noFill/>
        </p:spPr>
        <p:txBody>
          <a:bodyPr wrap="square" lIns="18288" rIns="18288" tIns="18288" bIns="18288" anchor="t">
            <a:noAutofit/>
          </a:bodyPr>
          <a:lstStyle/>
          <a:p>
            <a:pPr algn="ctr">
              <a:spcAft>
                <a:spcPts val="400"/>
              </a:spcAft>
            </a:pPr>
            <a:r>
              <a:rPr sz="1450" b="0" lang="en-US">
                <a:solidFill>
                  <a:srgbClr val="172033"/>
                </a:solidFill>
                <a:latin typeface="Pretendard"/>
                <a:ea typeface="Pretendard"/>
                <a:cs typeface="Pretendard"/>
              </a:rPr>
              <a:t>scVelo</a:t>
            </a:r>
          </a:p>
          <a:p>
            <a:pPr algn="ctr">
              <a:spcAft>
                <a:spcPts val="400"/>
              </a:spcAft>
            </a:pPr>
            <a:r>
              <a:rPr sz="1450" b="0" lang="en-US">
                <a:solidFill>
                  <a:srgbClr val="172033"/>
                </a:solidFill>
                <a:latin typeface="Pretendard"/>
                <a:ea typeface="Pretendard"/>
                <a:cs typeface="Pretendard"/>
              </a:rPr>
              <a:t>(RNA-only)</a:t>
            </a:r>
          </a:p>
        </p:txBody>
      </p:sp>
      <p:sp>
        <p:nvSpPr>
          <p:cNvPr id="25" name="bar"/>
          <p:cNvSpPr/>
          <p:nvPr/>
        </p:nvSpPr>
        <p:spPr>
          <a:xfrm>
            <a:off x="2994660" y="3605093"/>
            <a:ext cx="868680" cy="1700966"/>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ci"/>
          <p:cNvSpPr/>
          <p:nvPr/>
        </p:nvSpPr>
        <p:spPr>
          <a:xfrm>
            <a:off x="3418027" y="2806547"/>
            <a:ext cx="21945" cy="1636044"/>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ci-cap"/>
          <p:cNvSpPr/>
          <p:nvPr/>
        </p:nvSpPr>
        <p:spPr>
          <a:xfrm>
            <a:off x="3319272" y="2797403"/>
            <a:ext cx="219456" cy="21945"/>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ci-cap"/>
          <p:cNvSpPr/>
          <p:nvPr/>
        </p:nvSpPr>
        <p:spPr>
          <a:xfrm>
            <a:off x="3319272" y="4433448"/>
            <a:ext cx="219456" cy="21945"/>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body"/>
          <p:cNvSpPr txBox="1"/>
          <p:nvPr/>
        </p:nvSpPr>
        <p:spPr>
          <a:xfrm>
            <a:off x="2811779" y="2422499"/>
            <a:ext cx="1234440" cy="329184"/>
          </a:xfrm>
          <a:prstGeom prst="rect">
            <a:avLst/>
          </a:prstGeom>
          <a:noFill/>
        </p:spPr>
        <p:txBody>
          <a:bodyPr wrap="square" lIns="18288" rIns="18288" tIns="18288" bIns="18288" anchor="t">
            <a:noAutofit/>
          </a:bodyPr>
          <a:lstStyle/>
          <a:p>
            <a:pPr algn="ctr">
              <a:spcAft>
                <a:spcPts val="400"/>
              </a:spcAft>
            </a:pPr>
            <a:r>
              <a:rPr sz="1700" b="1" lang="en-US">
                <a:solidFill>
                  <a:srgbClr val="172033"/>
                </a:solidFill>
                <a:latin typeface="Pretendard"/>
                <a:ea typeface="Pretendard"/>
                <a:cs typeface="Pretendard"/>
              </a:rPr>
              <a:t>+0.262</a:t>
            </a:r>
          </a:p>
        </p:txBody>
      </p:sp>
      <p:sp>
        <p:nvSpPr>
          <p:cNvPr id="30" name="body"/>
          <p:cNvSpPr txBox="1"/>
          <p:nvPr/>
        </p:nvSpPr>
        <p:spPr>
          <a:xfrm>
            <a:off x="2720340" y="5379211"/>
            <a:ext cx="1417319" cy="594360"/>
          </a:xfrm>
          <a:prstGeom prst="rect">
            <a:avLst/>
          </a:prstGeom>
          <a:noFill/>
        </p:spPr>
        <p:txBody>
          <a:bodyPr wrap="square" lIns="18288" rIns="18288" tIns="18288" bIns="18288" anchor="t">
            <a:noAutofit/>
          </a:bodyPr>
          <a:lstStyle/>
          <a:p>
            <a:pPr algn="ctr">
              <a:spcAft>
                <a:spcPts val="400"/>
              </a:spcAft>
            </a:pPr>
            <a:r>
              <a:rPr sz="1450" b="0" lang="en-US">
                <a:solidFill>
                  <a:srgbClr val="172033"/>
                </a:solidFill>
                <a:latin typeface="Pretendard"/>
                <a:ea typeface="Pretendard"/>
                <a:cs typeface="Pretendard"/>
              </a:rPr>
              <a:t>MultiVelo</a:t>
            </a:r>
          </a:p>
        </p:txBody>
      </p:sp>
      <p:sp>
        <p:nvSpPr>
          <p:cNvPr id="31" name="bar"/>
          <p:cNvSpPr/>
          <p:nvPr/>
        </p:nvSpPr>
        <p:spPr>
          <a:xfrm>
            <a:off x="4366260" y="3455771"/>
            <a:ext cx="868680" cy="185028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ci"/>
          <p:cNvSpPr/>
          <p:nvPr/>
        </p:nvSpPr>
        <p:spPr>
          <a:xfrm>
            <a:off x="4789627" y="2722148"/>
            <a:ext cx="21945" cy="1512691"/>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ci-cap"/>
          <p:cNvSpPr/>
          <p:nvPr/>
        </p:nvSpPr>
        <p:spPr>
          <a:xfrm>
            <a:off x="4690872" y="2713004"/>
            <a:ext cx="219456" cy="21945"/>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i-cap"/>
          <p:cNvSpPr/>
          <p:nvPr/>
        </p:nvSpPr>
        <p:spPr>
          <a:xfrm>
            <a:off x="4690872" y="4225696"/>
            <a:ext cx="219456" cy="21945"/>
          </a:xfrm>
          <a:prstGeom prst="rect">
            <a:avLst/>
          </a:prstGeom>
          <a:solidFill>
            <a:srgbClr val="172033"/>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body"/>
          <p:cNvSpPr txBox="1"/>
          <p:nvPr/>
        </p:nvSpPr>
        <p:spPr>
          <a:xfrm>
            <a:off x="4183380" y="2338100"/>
            <a:ext cx="1234440" cy="329184"/>
          </a:xfrm>
          <a:prstGeom prst="rect">
            <a:avLst/>
          </a:prstGeom>
          <a:noFill/>
        </p:spPr>
        <p:txBody>
          <a:bodyPr wrap="square" lIns="18288" rIns="18288" tIns="18288" bIns="18288" anchor="t">
            <a:noAutofit/>
          </a:bodyPr>
          <a:lstStyle/>
          <a:p>
            <a:pPr algn="ctr">
              <a:spcAft>
                <a:spcPts val="400"/>
              </a:spcAft>
            </a:pPr>
            <a:r>
              <a:rPr sz="1700" b="1" lang="en-US">
                <a:solidFill>
                  <a:srgbClr val="172033"/>
                </a:solidFill>
                <a:latin typeface="Pretendard"/>
                <a:ea typeface="Pretendard"/>
                <a:cs typeface="Pretendard"/>
              </a:rPr>
              <a:t>+0.285</a:t>
            </a:r>
          </a:p>
        </p:txBody>
      </p:sp>
      <p:sp>
        <p:nvSpPr>
          <p:cNvPr id="36" name="body"/>
          <p:cNvSpPr txBox="1"/>
          <p:nvPr/>
        </p:nvSpPr>
        <p:spPr>
          <a:xfrm>
            <a:off x="4091940" y="5379211"/>
            <a:ext cx="1417319" cy="594360"/>
          </a:xfrm>
          <a:prstGeom prst="rect">
            <a:avLst/>
          </a:prstGeom>
          <a:noFill/>
        </p:spPr>
        <p:txBody>
          <a:bodyPr wrap="square" lIns="18288" rIns="18288" tIns="18288" bIns="18288" anchor="t">
            <a:noAutofit/>
          </a:bodyPr>
          <a:lstStyle/>
          <a:p>
            <a:pPr algn="ctr">
              <a:spcAft>
                <a:spcPts val="400"/>
              </a:spcAft>
            </a:pPr>
            <a:r>
              <a:rPr sz="1450" b="0" lang="en-US">
                <a:solidFill>
                  <a:srgbClr val="172033"/>
                </a:solidFill>
                <a:latin typeface="Pretendard"/>
                <a:ea typeface="Pretendard"/>
                <a:cs typeface="Pretendard"/>
              </a:rPr>
              <a:t>MultiVeloVAE</a:t>
            </a:r>
          </a:p>
        </p:txBody>
      </p:sp>
      <p:sp>
        <p:nvSpPr>
          <p:cNvPr id="37" name="bar"/>
          <p:cNvSpPr/>
          <p:nvPr/>
        </p:nvSpPr>
        <p:spPr>
          <a:xfrm>
            <a:off x="5737860" y="2644241"/>
            <a:ext cx="868680" cy="2661818"/>
          </a:xfrm>
          <a:prstGeom prst="rect">
            <a:avLst/>
          </a:prstGeom>
          <a:solidFill>
            <a:srgbClr val="59657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body"/>
          <p:cNvSpPr txBox="1"/>
          <p:nvPr/>
        </p:nvSpPr>
        <p:spPr>
          <a:xfrm>
            <a:off x="5554980" y="2260193"/>
            <a:ext cx="1234440" cy="329184"/>
          </a:xfrm>
          <a:prstGeom prst="rect">
            <a:avLst/>
          </a:prstGeom>
          <a:noFill/>
        </p:spPr>
        <p:txBody>
          <a:bodyPr wrap="square" lIns="18288" rIns="18288" tIns="18288" bIns="18288" anchor="t">
            <a:noAutofit/>
          </a:bodyPr>
          <a:lstStyle/>
          <a:p>
            <a:pPr algn="ctr">
              <a:spcAft>
                <a:spcPts val="400"/>
              </a:spcAft>
            </a:pPr>
            <a:r>
              <a:rPr sz="1700" b="1" lang="en-US">
                <a:solidFill>
                  <a:srgbClr val="172033"/>
                </a:solidFill>
                <a:latin typeface="Pretendard"/>
                <a:ea typeface="Pretendard"/>
                <a:cs typeface="Pretendard"/>
              </a:rPr>
              <a:t>+0.410</a:t>
            </a:r>
          </a:p>
        </p:txBody>
      </p:sp>
      <p:sp>
        <p:nvSpPr>
          <p:cNvPr id="39" name="body"/>
          <p:cNvSpPr txBox="1"/>
          <p:nvPr/>
        </p:nvSpPr>
        <p:spPr>
          <a:xfrm>
            <a:off x="5463540" y="5379211"/>
            <a:ext cx="1417319" cy="594360"/>
          </a:xfrm>
          <a:prstGeom prst="rect">
            <a:avLst/>
          </a:prstGeom>
          <a:noFill/>
        </p:spPr>
        <p:txBody>
          <a:bodyPr wrap="square" lIns="18288" rIns="18288" tIns="18288" bIns="18288" anchor="t">
            <a:noAutofit/>
          </a:bodyPr>
          <a:lstStyle/>
          <a:p>
            <a:pPr algn="ctr">
              <a:spcAft>
                <a:spcPts val="400"/>
              </a:spcAft>
            </a:pPr>
            <a:r>
              <a:rPr sz="1450" b="0" lang="en-US">
                <a:solidFill>
                  <a:srgbClr val="172033"/>
                </a:solidFill>
                <a:latin typeface="Pretendard"/>
                <a:ea typeface="Pretendard"/>
                <a:cs typeface="Pretendard"/>
              </a:rPr>
              <a:t>Transcript</a:t>
            </a:r>
          </a:p>
          <a:p>
            <a:pPr algn="ctr">
              <a:spcAft>
                <a:spcPts val="400"/>
              </a:spcAft>
            </a:pPr>
            <a:r>
              <a:rPr sz="1450" b="0" lang="en-US">
                <a:solidFill>
                  <a:srgbClr val="172033"/>
                </a:solidFill>
                <a:latin typeface="Pretendard"/>
                <a:ea typeface="Pretendard"/>
                <a:cs typeface="Pretendard"/>
              </a:rPr>
              <a:t>abundance</a:t>
            </a:r>
          </a:p>
        </p:txBody>
      </p:sp>
      <p:sp>
        <p:nvSpPr>
          <p:cNvPr id="40" name="body"/>
          <p:cNvSpPr txBox="1"/>
          <p:nvPr/>
        </p:nvSpPr>
        <p:spPr>
          <a:xfrm>
            <a:off x="1623060" y="5964427"/>
            <a:ext cx="3611879" cy="320040"/>
          </a:xfrm>
          <a:prstGeom prst="rect">
            <a:avLst/>
          </a:prstGeom>
          <a:noFill/>
        </p:spPr>
        <p:txBody>
          <a:bodyPr wrap="square" lIns="18288" rIns="18288" tIns="18288" bIns="18288" anchor="t">
            <a:noAutofit/>
          </a:bodyPr>
          <a:lstStyle/>
          <a:p>
            <a:pPr algn="ctr">
              <a:spcAft>
                <a:spcPts val="400"/>
              </a:spcAft>
            </a:pPr>
            <a:r>
              <a:rPr sz="1400" b="0" lang="en-US">
                <a:solidFill>
                  <a:srgbClr val="2457C5"/>
                </a:solidFill>
                <a:latin typeface="Pretendard"/>
                <a:ea typeface="Pretendard"/>
                <a:cs typeface="Pretendard"/>
              </a:rPr>
              <a:t>fitted α</a:t>
            </a:r>
          </a:p>
        </p:txBody>
      </p:sp>
      <p:sp>
        <p:nvSpPr>
          <p:cNvPr id="41" name="marker"/>
          <p:cNvSpPr/>
          <p:nvPr/>
        </p:nvSpPr>
        <p:spPr>
          <a:xfrm>
            <a:off x="7406640" y="1785620"/>
            <a:ext cx="64008" cy="960120"/>
          </a:xfrm>
          <a:prstGeom prst="rect">
            <a:avLst/>
          </a:prstGeom>
          <a:solidFill>
            <a:srgbClr val="B4231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body"/>
          <p:cNvSpPr txBox="1"/>
          <p:nvPr/>
        </p:nvSpPr>
        <p:spPr>
          <a:xfrm>
            <a:off x="7607808" y="1739900"/>
            <a:ext cx="4081271" cy="365760"/>
          </a:xfrm>
          <a:prstGeom prst="rect">
            <a:avLst/>
          </a:prstGeom>
          <a:noFill/>
        </p:spPr>
        <p:txBody>
          <a:bodyPr wrap="square" lIns="18288" rIns="18288" tIns="18288" bIns="18288" anchor="t">
            <a:noAutofit/>
          </a:bodyPr>
          <a:lstStyle/>
          <a:p>
            <a:pPr algn="l">
              <a:spcAft>
                <a:spcPts val="400"/>
              </a:spcAft>
            </a:pPr>
            <a:r>
              <a:rPr sz="1800" b="1" lang="en-US">
                <a:solidFill>
                  <a:srgbClr val="172033"/>
                </a:solidFill>
                <a:latin typeface="Pretendard"/>
                <a:ea typeface="Pretendard"/>
                <a:cs typeface="Pretendard"/>
              </a:rPr>
              <a:t>Second synthesis source</a:t>
            </a:r>
          </a:p>
        </p:txBody>
      </p:sp>
      <p:sp>
        <p:nvSpPr>
          <p:cNvPr id="43" name="body"/>
          <p:cNvSpPr txBox="1"/>
          <p:nvPr/>
        </p:nvSpPr>
        <p:spPr>
          <a:xfrm>
            <a:off x="7607808" y="2123948"/>
            <a:ext cx="4081271" cy="777240"/>
          </a:xfrm>
          <a:prstGeom prst="rect">
            <a:avLst/>
          </a:prstGeom>
          <a:noFill/>
        </p:spPr>
        <p:txBody>
          <a:bodyPr wrap="square" lIns="18288" rIns="18288" tIns="18288" bIns="18288" anchor="t">
            <a:noAutofit/>
          </a:bodyPr>
          <a:lstStyle/>
          <a:p>
            <a:pPr algn="l">
              <a:spcAft>
                <a:spcPts val="400"/>
              </a:spcAft>
            </a:pPr>
            <a:r>
              <a:rPr sz="1550" b="0" lang="en-US">
                <a:solidFill>
                  <a:srgbClr val="526174"/>
                </a:solidFill>
                <a:latin typeface="Pretendard"/>
                <a:ea typeface="Pretendard"/>
                <a:cs typeface="Pretendard"/>
              </a:rPr>
              <a:t>Null: ρ −0.05 to −0.01</a:t>
            </a:r>
          </a:p>
        </p:txBody>
      </p:sp>
      <p:sp>
        <p:nvSpPr>
          <p:cNvPr id="44" name="marker"/>
          <p:cNvSpPr/>
          <p:nvPr/>
        </p:nvSpPr>
        <p:spPr>
          <a:xfrm>
            <a:off x="7406640" y="3084067"/>
            <a:ext cx="64008" cy="960120"/>
          </a:xfrm>
          <a:prstGeom prst="rect">
            <a:avLst/>
          </a:prstGeom>
          <a:solidFill>
            <a:srgbClr val="1E7B3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body"/>
          <p:cNvSpPr txBox="1"/>
          <p:nvPr/>
        </p:nvSpPr>
        <p:spPr>
          <a:xfrm>
            <a:off x="7607808" y="3038348"/>
            <a:ext cx="4081271" cy="365760"/>
          </a:xfrm>
          <a:prstGeom prst="rect">
            <a:avLst/>
          </a:prstGeom>
          <a:noFill/>
        </p:spPr>
        <p:txBody>
          <a:bodyPr wrap="square" lIns="18288" rIns="18288" tIns="18288" bIns="18288" anchor="t">
            <a:noAutofit/>
          </a:bodyPr>
          <a:lstStyle/>
          <a:p>
            <a:pPr algn="l">
              <a:spcAft>
                <a:spcPts val="400"/>
              </a:spcAft>
            </a:pPr>
            <a:r>
              <a:rPr sz="1800" b="1" lang="en-US">
                <a:solidFill>
                  <a:srgbClr val="172033"/>
                </a:solidFill>
                <a:latin typeface="Pretendard"/>
                <a:ea typeface="Pretendard"/>
                <a:cs typeface="Pretendard"/>
              </a:rPr>
              <a:t>α agreement beyond abundance</a:t>
            </a:r>
          </a:p>
        </p:txBody>
      </p:sp>
      <p:sp>
        <p:nvSpPr>
          <p:cNvPr id="46" name="body"/>
          <p:cNvSpPr txBox="1"/>
          <p:nvPr/>
        </p:nvSpPr>
        <p:spPr>
          <a:xfrm>
            <a:off x="7607808" y="3422396"/>
            <a:ext cx="4081271" cy="777240"/>
          </a:xfrm>
          <a:prstGeom prst="rect">
            <a:avLst/>
          </a:prstGeom>
          <a:noFill/>
        </p:spPr>
        <p:txBody>
          <a:bodyPr wrap="square" lIns="18288" rIns="18288" tIns="18288" bIns="18288" anchor="t">
            <a:noAutofit/>
          </a:bodyPr>
          <a:lstStyle/>
          <a:p>
            <a:pPr algn="l">
              <a:spcAft>
                <a:spcPts val="400"/>
              </a:spcAft>
            </a:pPr>
            <a:r>
              <a:rPr sz="1550" b="0" lang="en-US">
                <a:solidFill>
                  <a:srgbClr val="526174"/>
                </a:solidFill>
                <a:latin typeface="Pretendard"/>
                <a:ea typeface="Pretendard"/>
                <a:cs typeface="Pretendard"/>
              </a:rPr>
              <a:t>MultiVelo × MultiVeloVAE +0.882 → +0.715 [+0.659, +0.765] after removing mean expression; lag (coupled-on) +0.182</a:t>
            </a:r>
          </a:p>
        </p:txBody>
      </p:sp>
      <p:sp>
        <p:nvSpPr>
          <p:cNvPr id="47" name="marker"/>
          <p:cNvSpPr/>
          <p:nvPr/>
        </p:nvSpPr>
        <p:spPr>
          <a:xfrm>
            <a:off x="7406640" y="4382516"/>
            <a:ext cx="64008" cy="960120"/>
          </a:xfrm>
          <a:prstGeom prst="rect">
            <a:avLst/>
          </a:prstGeom>
          <a:solidFill>
            <a:srgbClr val="B26B00"/>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body"/>
          <p:cNvSpPr txBox="1"/>
          <p:nvPr/>
        </p:nvSpPr>
        <p:spPr>
          <a:xfrm>
            <a:off x="7607808" y="4336796"/>
            <a:ext cx="4081271" cy="365760"/>
          </a:xfrm>
          <a:prstGeom prst="rect">
            <a:avLst/>
          </a:prstGeom>
          <a:noFill/>
        </p:spPr>
        <p:txBody>
          <a:bodyPr wrap="square" lIns="18288" rIns="18288" tIns="18288" bIns="18288" anchor="t">
            <a:noAutofit/>
          </a:bodyPr>
          <a:lstStyle/>
          <a:p>
            <a:pPr algn="l">
              <a:spcAft>
                <a:spcPts val="400"/>
              </a:spcAft>
            </a:pPr>
            <a:r>
              <a:rPr sz="1800" b="1" lang="en-US">
                <a:solidFill>
                  <a:srgbClr val="172033"/>
                </a:solidFill>
                <a:latin typeface="Pretendard"/>
                <a:ea typeface="Pretendard"/>
                <a:cs typeface="Pretendard"/>
              </a:rPr>
              <a:t>Kinetic accuracy of that component</a:t>
            </a:r>
          </a:p>
        </p:txBody>
      </p:sp>
      <p:sp>
        <p:nvSpPr>
          <p:cNvPr id="49" name="body"/>
          <p:cNvSpPr txBox="1"/>
          <p:nvPr/>
        </p:nvSpPr>
        <p:spPr>
          <a:xfrm>
            <a:off x="7607808" y="4720844"/>
            <a:ext cx="4081271" cy="777240"/>
          </a:xfrm>
          <a:prstGeom prst="rect">
            <a:avLst/>
          </a:prstGeom>
          <a:noFill/>
        </p:spPr>
        <p:txBody>
          <a:bodyPr wrap="square" lIns="18288" rIns="18288" tIns="18288" bIns="18288" anchor="t">
            <a:noAutofit/>
          </a:bodyPr>
          <a:lstStyle/>
          <a:p>
            <a:pPr algn="l">
              <a:spcAft>
                <a:spcPts val="400"/>
              </a:spcAft>
            </a:pPr>
            <a:r>
              <a:rPr sz="1550" b="0" lang="en-US">
                <a:solidFill>
                  <a:srgbClr val="526174"/>
                </a:solidFill>
                <a:latin typeface="Pretendard"/>
                <a:ea typeface="Pretendard"/>
                <a:cs typeface="Pretendard"/>
              </a:rPr>
              <a:t>Not shown; it may come from the shared unspliced and spliced counts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γ does not recover measured half-life, even where one exists</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Spearman ρ, fitted γ vs measured degradation rate, non-housekeeping genes, 95% CI. MOLM13 half-lives: RNADecayCafe.</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9</a:t>
            </a:r>
          </a:p>
        </p:txBody>
      </p:sp>
      <p:graphicFrame>
        <p:nvGraphicFramePr>
          <p:cNvPr id="6" name="table"/>
          <p:cNvGraphicFramePr>
            <a:graphicFrameLocks noGrp="1"/>
          </p:cNvGraphicFramePr>
          <p:nvPr/>
        </p:nvGraphicFramePr>
        <p:xfrm>
          <a:off x="502920" y="1785620"/>
          <a:ext cx="11183112" cy="2743200"/>
        </p:xfrm>
        <a:graphic>
          <a:graphicData uri="http://schemas.openxmlformats.org/drawingml/2006/table">
            <a:tbl>
              <a:tblPr firstRow="1" bandRow="1">
                <a:tableStyleId>{5C22544A-7EE6-4342-B048-85BDC9FD1C3A}</a:tableStyleId>
              </a:tblPr>
              <a:tblGrid>
                <a:gridCol w="2926080"/>
                <a:gridCol w="2560320"/>
                <a:gridCol w="2560320"/>
                <a:gridCol w="3136392"/>
              </a:tblGrid>
              <a:tr h="685800">
                <a:tc>
                  <a:txBody>
                    <a:bodyPr wrap="square"/>
                    <a:lstStyle/>
                    <a:p>
                      <a:pPr algn="l"/>
                      <a:r>
                        <a:rPr sz="1800" b="1" lang="en-US">
                          <a:solidFill>
                            <a:srgbClr val="FFFFFF"/>
                          </a:solidFill>
                          <a:latin typeface="Pretendard"/>
                          <a:ea typeface="Pretendard"/>
                          <a:cs typeface="Pretendard"/>
                        </a:rPr>
                        <a:t>Method (γ)</a:t>
                      </a:r>
                    </a:p>
                  </a:txBody>
                  <a:tcPr marL="73152" marR="73152" marT="36576" marB="36576" anchor="ctr">
                    <a:solidFill>
                      <a:srgbClr val="2457C5"/>
                    </a:solidFill>
                  </a:tcPr>
                </a:tc>
                <a:tc>
                  <a:txBody>
                    <a:bodyPr wrap="square"/>
                    <a:lstStyle/>
                    <a:p>
                      <a:pPr algn="ctr"/>
                      <a:r>
                        <a:rPr sz="1800" b="1" lang="en-US">
                          <a:solidFill>
                            <a:srgbClr val="FFFFFF"/>
                          </a:solidFill>
                          <a:latin typeface="Pretendard"/>
                          <a:ea typeface="Pretendard"/>
                          <a:cs typeface="Pretendard"/>
                        </a:rPr>
                        <a:t>K562</a:t>
                      </a:r>
                    </a:p>
                  </a:txBody>
                  <a:tcPr marL="73152" marR="73152" marT="36576" marB="36576" anchor="ctr">
                    <a:solidFill>
                      <a:srgbClr val="2457C5"/>
                    </a:solidFill>
                  </a:tcPr>
                </a:tc>
                <a:tc>
                  <a:txBody>
                    <a:bodyPr wrap="square"/>
                    <a:lstStyle/>
                    <a:p>
                      <a:pPr algn="ctr"/>
                      <a:r>
                        <a:rPr sz="1800" b="1" lang="en-US">
                          <a:solidFill>
                            <a:srgbClr val="FFFFFF"/>
                          </a:solidFill>
                          <a:latin typeface="Pretendard"/>
                          <a:ea typeface="Pretendard"/>
                          <a:cs typeface="Pretendard"/>
                        </a:rPr>
                        <a:t>THP1</a:t>
                      </a:r>
                    </a:p>
                  </a:txBody>
                  <a:tcPr marL="73152" marR="73152" marT="36576" marB="36576" anchor="ctr">
                    <a:solidFill>
                      <a:srgbClr val="2457C5"/>
                    </a:solidFill>
                  </a:tcPr>
                </a:tc>
                <a:tc>
                  <a:txBody>
                    <a:bodyPr wrap="square"/>
                    <a:lstStyle/>
                    <a:p>
                      <a:pPr algn="ctr"/>
                      <a:r>
                        <a:rPr sz="1800" b="1" lang="en-US">
                          <a:solidFill>
                            <a:srgbClr val="FFFFFF"/>
                          </a:solidFill>
                          <a:latin typeface="Pretendard"/>
                          <a:ea typeface="Pretendard"/>
                          <a:cs typeface="Pretendard"/>
                        </a:rPr>
                        <a:t>MOLM13 (uncensored)</a:t>
                      </a:r>
                    </a:p>
                  </a:txBody>
                  <a:tcPr marL="73152" marR="73152" marT="36576" marB="36576" anchor="ctr">
                    <a:solidFill>
                      <a:srgbClr val="2457C5"/>
                    </a:solidFill>
                  </a:tcPr>
                </a:tc>
              </a:tr>
              <a:tr h="685800">
                <a:tc>
                  <a:txBody>
                    <a:bodyPr wrap="square"/>
                    <a:lstStyle/>
                    <a:p>
                      <a:pPr algn="l"/>
                      <a:r>
                        <a:rPr sz="1800" b="1" lang="en-US">
                          <a:solidFill>
                            <a:srgbClr val="172033"/>
                          </a:solidFill>
                          <a:latin typeface="Pretendard"/>
                          <a:ea typeface="Pretendard"/>
                          <a:cs typeface="Pretendard"/>
                        </a:rPr>
                        <a:t>scVelo, RNA-only</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−0.118</a:t>
                      </a:r>
                    </a:p>
                    <a:p>
                      <a:pPr algn="ctr"/>
                      <a:r>
                        <a:rPr sz="1300" b="0" lang="en-US">
                          <a:solidFill>
                            <a:srgbClr val="526174"/>
                          </a:solidFill>
                          <a:latin typeface="Pretendard"/>
                          <a:ea typeface="Pretendard"/>
                          <a:cs typeface="Pretendard"/>
                        </a:rPr>
                        <a:t>[−0.320, +0.091]</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−0.167</a:t>
                      </a:r>
                    </a:p>
                    <a:p>
                      <a:pPr algn="ctr"/>
                      <a:r>
                        <a:rPr sz="1300" b="0" lang="en-US">
                          <a:solidFill>
                            <a:srgbClr val="526174"/>
                          </a:solidFill>
                          <a:latin typeface="Pretendard"/>
                          <a:ea typeface="Pretendard"/>
                          <a:cs typeface="Pretendard"/>
                        </a:rPr>
                        <a:t>[−0.324, +0.002]</a:t>
                      </a:r>
                    </a:p>
                  </a:txBody>
                  <a:tcPr marL="73152" marR="73152" marT="36576" marB="36576" anchor="ctr">
                    <a:solidFill>
                      <a:srgbClr val="FFFFFF"/>
                    </a:solidFill>
                  </a:tcPr>
                </a:tc>
                <a:tc>
                  <a:txBody>
                    <a:bodyPr wrap="square"/>
                    <a:lstStyle/>
                    <a:p>
                      <a:pPr algn="ctr"/>
                      <a:r>
                        <a:rPr sz="1800" b="1" lang="en-US">
                          <a:solidFill>
                            <a:srgbClr val="B42318"/>
                          </a:solidFill>
                          <a:latin typeface="Pretendard"/>
                          <a:ea typeface="Pretendard"/>
                          <a:cs typeface="Pretendard"/>
                        </a:rPr>
                        <a:t>−0.224</a:t>
                      </a:r>
                    </a:p>
                    <a:p>
                      <a:pPr algn="ctr"/>
                      <a:r>
                        <a:rPr sz="1300" b="0" lang="en-US">
                          <a:solidFill>
                            <a:srgbClr val="526174"/>
                          </a:solidFill>
                          <a:latin typeface="Pretendard"/>
                          <a:ea typeface="Pretendard"/>
                          <a:cs typeface="Pretendard"/>
                        </a:rPr>
                        <a:t>[−0.359, −0.085]  reversed</a:t>
                      </a:r>
                    </a:p>
                  </a:txBody>
                  <a:tcPr marL="73152" marR="73152" marT="36576" marB="36576" anchor="ctr">
                    <a:solidFill>
                      <a:srgbClr val="FBEAE8"/>
                    </a:solidFill>
                  </a:tcPr>
                </a:tc>
              </a:tr>
              <a:tr h="685800">
                <a:tc>
                  <a:txBody>
                    <a:bodyPr wrap="square"/>
                    <a:lstStyle/>
                    <a:p>
                      <a:pPr algn="l"/>
                      <a:r>
                        <a:rPr sz="1800" b="1" lang="en-US">
                          <a:solidFill>
                            <a:srgbClr val="172033"/>
                          </a:solidFill>
                          <a:latin typeface="Pretendard"/>
                          <a:ea typeface="Pretendard"/>
                          <a:cs typeface="Pretendard"/>
                        </a:rPr>
                        <a:t>MultiVelo</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+0.053</a:t>
                      </a:r>
                    </a:p>
                    <a:p>
                      <a:pPr algn="ctr"/>
                      <a:r>
                        <a:rPr sz="1300" b="0" lang="en-US">
                          <a:solidFill>
                            <a:srgbClr val="526174"/>
                          </a:solidFill>
                          <a:latin typeface="Pretendard"/>
                          <a:ea typeface="Pretendard"/>
                          <a:cs typeface="Pretendard"/>
                        </a:rPr>
                        <a:t>[−0.147, +0.247]</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+0.028</a:t>
                      </a:r>
                    </a:p>
                    <a:p>
                      <a:pPr algn="ctr"/>
                      <a:r>
                        <a:rPr sz="1300" b="0" lang="en-US">
                          <a:solidFill>
                            <a:srgbClr val="526174"/>
                          </a:solidFill>
                          <a:latin typeface="Pretendard"/>
                          <a:ea typeface="Pretendard"/>
                          <a:cs typeface="Pretendard"/>
                        </a:rPr>
                        <a:t>[−0.127, +0.183]</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−0.003</a:t>
                      </a:r>
                    </a:p>
                    <a:p>
                      <a:pPr algn="ctr"/>
                      <a:r>
                        <a:rPr sz="1300" b="0" lang="en-US">
                          <a:solidFill>
                            <a:srgbClr val="526174"/>
                          </a:solidFill>
                          <a:latin typeface="Pretendard"/>
                          <a:ea typeface="Pretendard"/>
                          <a:cs typeface="Pretendard"/>
                        </a:rPr>
                        <a:t>[−0.136, +0.134]</a:t>
                      </a:r>
                    </a:p>
                  </a:txBody>
                  <a:tcPr marL="73152" marR="73152" marT="36576" marB="36576" anchor="ctr">
                    <a:solidFill>
                      <a:srgbClr val="F8FAFD"/>
                    </a:solidFill>
                  </a:tcPr>
                </a:tc>
              </a:tr>
              <a:tr h="685800">
                <a:tc>
                  <a:txBody>
                    <a:bodyPr wrap="square"/>
                    <a:lstStyle/>
                    <a:p>
                      <a:pPr algn="l"/>
                      <a:r>
                        <a:rPr sz="1800" b="1" lang="en-US">
                          <a:solidFill>
                            <a:srgbClr val="172033"/>
                          </a:solidFill>
                          <a:latin typeface="Pretendard"/>
                          <a:ea typeface="Pretendard"/>
                          <a:cs typeface="Pretendard"/>
                        </a:rPr>
                        <a:t>MultiVeloVAE</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−0.011</a:t>
                      </a:r>
                    </a:p>
                    <a:p>
                      <a:pPr algn="ctr"/>
                      <a:r>
                        <a:rPr sz="1300" b="0" lang="en-US">
                          <a:solidFill>
                            <a:srgbClr val="526174"/>
                          </a:solidFill>
                          <a:latin typeface="Pretendard"/>
                          <a:ea typeface="Pretendard"/>
                          <a:cs typeface="Pretendard"/>
                        </a:rPr>
                        <a:t>[−0.198, +0.175]</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+0.120</a:t>
                      </a:r>
                    </a:p>
                    <a:p>
                      <a:pPr algn="ctr"/>
                      <a:r>
                        <a:rPr sz="1300" b="0" lang="en-US">
                          <a:solidFill>
                            <a:srgbClr val="526174"/>
                          </a:solidFill>
                          <a:latin typeface="Pretendard"/>
                          <a:ea typeface="Pretendard"/>
                          <a:cs typeface="Pretendard"/>
                        </a:rPr>
                        <a:t>[−0.033, +0.271]</a:t>
                      </a:r>
                    </a:p>
                  </a:txBody>
                  <a:tcPr marL="73152" marR="73152" marT="36576" marB="36576" anchor="ctr">
                    <a:solidFill>
                      <a:srgbClr val="FFFFFF"/>
                    </a:solidFill>
                  </a:tcPr>
                </a:tc>
                <a:tc>
                  <a:txBody>
                    <a:bodyPr wrap="square"/>
                    <a:lstStyle/>
                    <a:p>
                      <a:pPr algn="ctr"/>
                      <a:r>
                        <a:rPr sz="1800" b="1" lang="en-US">
                          <a:solidFill>
                            <a:srgbClr val="1E7B34"/>
                          </a:solidFill>
                          <a:latin typeface="Pretendard"/>
                          <a:ea typeface="Pretendard"/>
                          <a:cs typeface="Pretendard"/>
                        </a:rPr>
                        <a:t>+0.164</a:t>
                      </a:r>
                    </a:p>
                    <a:p>
                      <a:pPr algn="ctr"/>
                      <a:r>
                        <a:rPr sz="1300" b="0" lang="en-US">
                          <a:solidFill>
                            <a:srgbClr val="526174"/>
                          </a:solidFill>
                          <a:latin typeface="Pretendard"/>
                          <a:ea typeface="Pretendard"/>
                          <a:cs typeface="Pretendard"/>
                        </a:rPr>
                        <a:t>[+0.028, +0.291]  weak</a:t>
                      </a:r>
                    </a:p>
                  </a:txBody>
                  <a:tcPr marL="73152" marR="73152" marT="36576" marB="36576" anchor="ctr">
                    <a:solidFill>
                      <a:srgbClr val="FFFFFF"/>
                    </a:solidFill>
                  </a:tcPr>
                </a:tc>
              </a:tr>
            </a:tbl>
          </a:graphicData>
        </a:graphic>
      </p:graphicFrame>
      <p:sp>
        <p:nvSpPr>
          <p:cNvPr id="7" name="body"/>
          <p:cNvSpPr txBox="1"/>
          <p:nvPr/>
        </p:nvSpPr>
        <p:spPr>
          <a:xfrm>
            <a:off x="502920" y="4757420"/>
            <a:ext cx="11186159" cy="457200"/>
          </a:xfrm>
          <a:prstGeom prst="rect">
            <a:avLst/>
          </a:prstGeom>
          <a:noFill/>
        </p:spPr>
        <p:txBody>
          <a:bodyPr wrap="square" lIns="18288" rIns="18288" tIns="18288" bIns="18288" anchor="t">
            <a:noAutofit/>
          </a:bodyPr>
          <a:lstStyle/>
          <a:p>
            <a:pPr algn="l">
              <a:spcAft>
                <a:spcPts val="400"/>
              </a:spcAft>
            </a:pPr>
            <a:r>
              <a:rPr sz="2100" b="1" lang="en-US">
                <a:solidFill>
                  <a:srgbClr val="2457C5"/>
                </a:solidFill>
                <a:latin typeface="Pretendard"/>
                <a:ea typeface="Pretendard"/>
                <a:cs typeface="Pretendard"/>
              </a:rPr>
              <a:t>1 of 9 method × cell-line pairs recovers γ, weakly.</a:t>
            </a:r>
          </a:p>
        </p:txBody>
      </p:sp>
      <p:sp>
        <p:nvSpPr>
          <p:cNvPr id="8" name="body"/>
          <p:cNvSpPr txBox="1"/>
          <p:nvPr/>
        </p:nvSpPr>
        <p:spPr>
          <a:xfrm>
            <a:off x="502920" y="5260340"/>
            <a:ext cx="11186159" cy="457200"/>
          </a:xfrm>
          <a:prstGeom prst="rect">
            <a:avLst/>
          </a:prstGeom>
          <a:noFill/>
        </p:spPr>
        <p:txBody>
          <a:bodyPr wrap="square" lIns="18288" rIns="18288" tIns="18288" bIns="18288" anchor="t">
            <a:noAutofit/>
          </a:bodyPr>
          <a:lstStyle/>
          <a:p>
            <a:pPr algn="l">
              <a:spcAft>
                <a:spcPts val="400"/>
              </a:spcAft>
            </a:pPr>
            <a:r>
              <a:rPr sz="2100" b="1" lang="en-US">
                <a:solidFill>
                  <a:srgbClr val="2457C5"/>
                </a:solidFill>
                <a:latin typeface="Pretendard"/>
                <a:ea typeface="Pretendard"/>
                <a:cs typeface="Pretendard"/>
              </a:rPr>
              <a:t>Cross-method γ agreement in HSPC: ρ ≈ −0.11.</a:t>
            </a:r>
          </a:p>
        </p:txBody>
      </p:sp>
      <p:sp>
        <p:nvSpPr>
          <p:cNvPr id="9" name="body"/>
          <p:cNvSpPr txBox="1"/>
          <p:nvPr/>
        </p:nvSpPr>
        <p:spPr>
          <a:xfrm>
            <a:off x="502920" y="5808980"/>
            <a:ext cx="11186159" cy="411480"/>
          </a:xfrm>
          <a:prstGeom prst="rect">
            <a:avLst/>
          </a:prstGeom>
          <a:noFill/>
        </p:spPr>
        <p:txBody>
          <a:bodyPr wrap="square" lIns="18288" rIns="18288" tIns="18288" bIns="18288" anchor="t">
            <a:noAutofit/>
          </a:bodyPr>
          <a:lstStyle/>
          <a:p>
            <a:pPr algn="l">
              <a:spcAft>
                <a:spcPts val="400"/>
              </a:spcAft>
            </a:pPr>
            <a:r>
              <a:rPr sz="1600" b="0" lang="en-US">
                <a:solidFill>
                  <a:srgbClr val="526174"/>
                </a:solidFill>
                <a:latin typeface="Pretendard"/>
                <a:ea typeface="Pretendard"/>
                <a:cs typeface="Pretendard"/>
              </a:rPr>
              <a:t>Positive ρ means recovery. The reversal belongs to the RNA-only scVelo γ, not to MultiVelo.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932688"/>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A reliability map routes each velocity output</a:t>
            </a:r>
          </a:p>
        </p:txBody>
      </p:sp>
      <p:sp>
        <p:nvSpPr>
          <p:cNvPr id="3" name="title-accent"/>
          <p:cNvSpPr/>
          <p:nvPr/>
        </p:nvSpPr>
        <p:spPr>
          <a:xfrm>
            <a:off x="502920" y="1353312"/>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10</a:t>
            </a:r>
          </a:p>
        </p:txBody>
      </p:sp>
      <p:pic>
        <p:nvPicPr>
          <p:cNvPr id="5" name="fig-map" descr="fig07_reliability_map_v2.png"/>
          <p:cNvPicPr>
            <a:picLocks noChangeAspect="1"/>
          </p:cNvPicPr>
          <p:nvPr/>
        </p:nvPicPr>
        <p:blipFill>
          <a:blip r:embed="rId2"/>
          <a:stretch>
            <a:fillRect/>
          </a:stretch>
        </p:blipFill>
        <p:spPr>
          <a:xfrm>
            <a:off x="876886" y="1600200"/>
            <a:ext cx="10438227" cy="484632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Routing rule: abundance first, α only for what it adds</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Leave-one-lineage-out across six HSPC lineages, 472 genes; Spearman ρ between predicted and fitted values; gain = difference in ρ.</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11</a:t>
            </a:r>
          </a:p>
        </p:txBody>
      </p:sp>
      <p:sp>
        <p:nvSpPr>
          <p:cNvPr id="6" name="Oval 5"/>
          <p:cNvSpPr/>
          <p:nvPr/>
        </p:nvSpPr>
        <p:spPr>
          <a:xfrm>
            <a:off x="502920" y="1831340"/>
            <a:ext cx="502920" cy="502920"/>
          </a:xfrm>
          <a:prstGeom prst="ellipse">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r>
              <a:rPr sz="2000" b="1" lang="en-US">
                <a:solidFill>
                  <a:srgbClr val="FFFFFF"/>
                </a:solidFill>
                <a:latin typeface="Pretendard"/>
                <a:ea typeface="Pretendard"/>
                <a:cs typeface="Pretendard"/>
              </a:rPr>
              <a:t>1</a:t>
            </a:r>
          </a:p>
        </p:txBody>
      </p:sp>
      <p:sp>
        <p:nvSpPr>
          <p:cNvPr id="7" name="body"/>
          <p:cNvSpPr txBox="1"/>
          <p:nvPr/>
        </p:nvSpPr>
        <p:spPr>
          <a:xfrm>
            <a:off x="1234440" y="1785620"/>
            <a:ext cx="5852160" cy="1188720"/>
          </a:xfrm>
          <a:prstGeom prst="rect">
            <a:avLst/>
          </a:prstGeom>
          <a:noFill/>
        </p:spPr>
        <p:txBody>
          <a:bodyPr wrap="square" lIns="18288" rIns="18288" tIns="18288" bIns="18288" anchor="t">
            <a:noAutofit/>
          </a:bodyPr>
          <a:lstStyle/>
          <a:p>
            <a:pPr algn="l">
              <a:spcAft>
                <a:spcPts val="400"/>
              </a:spcAft>
            </a:pPr>
            <a:r>
              <a:rPr sz="2100" b="0" lang="en-US">
                <a:solidFill>
                  <a:srgbClr val="172033"/>
                </a:solidFill>
                <a:latin typeface="Pretendard"/>
                <a:ea typeface="Pretendard"/>
                <a:cs typeface="Pretendard"/>
              </a:rPr>
              <a:t>Enter transcript abundance first.</a:t>
            </a:r>
          </a:p>
        </p:txBody>
      </p:sp>
      <p:sp>
        <p:nvSpPr>
          <p:cNvPr id="8" name="Oval 7"/>
          <p:cNvSpPr/>
          <p:nvPr/>
        </p:nvSpPr>
        <p:spPr>
          <a:xfrm>
            <a:off x="502920" y="2700019"/>
            <a:ext cx="502920" cy="502920"/>
          </a:xfrm>
          <a:prstGeom prst="ellipse">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r>
              <a:rPr sz="2000" b="1" lang="en-US">
                <a:solidFill>
                  <a:srgbClr val="FFFFFF"/>
                </a:solidFill>
                <a:latin typeface="Pretendard"/>
                <a:ea typeface="Pretendard"/>
                <a:cs typeface="Pretendard"/>
              </a:rPr>
              <a:t>2</a:t>
            </a:r>
          </a:p>
        </p:txBody>
      </p:sp>
      <p:sp>
        <p:nvSpPr>
          <p:cNvPr id="9" name="body"/>
          <p:cNvSpPr txBox="1"/>
          <p:nvPr/>
        </p:nvSpPr>
        <p:spPr>
          <a:xfrm>
            <a:off x="1234440" y="2654300"/>
            <a:ext cx="5852160" cy="1188720"/>
          </a:xfrm>
          <a:prstGeom prst="rect">
            <a:avLst/>
          </a:prstGeom>
          <a:noFill/>
        </p:spPr>
        <p:txBody>
          <a:bodyPr wrap="square" lIns="18288" rIns="18288" tIns="18288" bIns="18288" anchor="t">
            <a:noAutofit/>
          </a:bodyPr>
          <a:lstStyle/>
          <a:p>
            <a:pPr algn="l">
              <a:spcAft>
                <a:spcPts val="400"/>
              </a:spcAft>
            </a:pPr>
            <a:r>
              <a:rPr sz="2100" b="0" lang="en-US">
                <a:solidFill>
                  <a:srgbClr val="172033"/>
                </a:solidFill>
                <a:latin typeface="Pretendard"/>
                <a:ea typeface="Pretendard"/>
                <a:cs typeface="Pretendard"/>
              </a:rPr>
              <a:t>Add α only as its abundance-orthogonal component; keep it only if held-out performance improves.</a:t>
            </a:r>
          </a:p>
        </p:txBody>
      </p:sp>
      <p:sp>
        <p:nvSpPr>
          <p:cNvPr id="10" name="Oval 9"/>
          <p:cNvSpPr/>
          <p:nvPr/>
        </p:nvSpPr>
        <p:spPr>
          <a:xfrm>
            <a:off x="502920" y="4163060"/>
            <a:ext cx="502920" cy="502920"/>
          </a:xfrm>
          <a:prstGeom prst="ellipse">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r>
              <a:rPr sz="2000" b="1" lang="en-US">
                <a:solidFill>
                  <a:srgbClr val="FFFFFF"/>
                </a:solidFill>
                <a:latin typeface="Pretendard"/>
                <a:ea typeface="Pretendard"/>
                <a:cs typeface="Pretendard"/>
              </a:rPr>
              <a:t>3</a:t>
            </a:r>
          </a:p>
        </p:txBody>
      </p:sp>
      <p:sp>
        <p:nvSpPr>
          <p:cNvPr id="11" name="body"/>
          <p:cNvSpPr txBox="1"/>
          <p:nvPr/>
        </p:nvSpPr>
        <p:spPr>
          <a:xfrm>
            <a:off x="1234440" y="4117340"/>
            <a:ext cx="5852160" cy="1188720"/>
          </a:xfrm>
          <a:prstGeom prst="rect">
            <a:avLst/>
          </a:prstGeom>
          <a:noFill/>
        </p:spPr>
        <p:txBody>
          <a:bodyPr wrap="square" lIns="18288" rIns="18288" tIns="18288" bIns="18288" anchor="t">
            <a:noAutofit/>
          </a:bodyPr>
          <a:lstStyle/>
          <a:p>
            <a:pPr algn="l">
              <a:spcAft>
                <a:spcPts val="400"/>
              </a:spcAft>
            </a:pPr>
            <a:r>
              <a:rPr sz="2100" b="0" lang="en-US">
                <a:solidFill>
                  <a:srgbClr val="172033"/>
                </a:solidFill>
                <a:latin typeface="Pretendard"/>
                <a:ea typeface="Pretendard"/>
                <a:cs typeface="Pretendard"/>
              </a:rPr>
              <a:t>Do not consume a single-method lag, its sign, or γ without an orthogonal measurement.</a:t>
            </a:r>
          </a:p>
        </p:txBody>
      </p:sp>
      <p:sp>
        <p:nvSpPr>
          <p:cNvPr id="12" name="box"/>
          <p:cNvSpPr/>
          <p:nvPr/>
        </p:nvSpPr>
        <p:spPr>
          <a:xfrm>
            <a:off x="7452360" y="1739900"/>
            <a:ext cx="4236719" cy="388620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body"/>
          <p:cNvSpPr txBox="1"/>
          <p:nvPr/>
        </p:nvSpPr>
        <p:spPr>
          <a:xfrm>
            <a:off x="7680960" y="1877059"/>
            <a:ext cx="3779519" cy="365760"/>
          </a:xfrm>
          <a:prstGeom prst="rect">
            <a:avLst/>
          </a:prstGeom>
          <a:noFill/>
        </p:spPr>
        <p:txBody>
          <a:bodyPr wrap="square" lIns="18288" rIns="18288" tIns="18288" bIns="18288" anchor="t">
            <a:noAutofit/>
          </a:bodyPr>
          <a:lstStyle/>
          <a:p>
            <a:pPr algn="l">
              <a:spcAft>
                <a:spcPts val="400"/>
              </a:spcAft>
            </a:pPr>
            <a:r>
              <a:rPr sz="1800" b="1" lang="en-US">
                <a:solidFill>
                  <a:srgbClr val="172033"/>
                </a:solidFill>
                <a:latin typeface="Pretendard"/>
                <a:ea typeface="Pretendard"/>
                <a:cs typeface="Pretendard"/>
              </a:rPr>
              <a:t>Held-out lineages</a:t>
            </a:r>
          </a:p>
        </p:txBody>
      </p:sp>
      <p:sp>
        <p:nvSpPr>
          <p:cNvPr id="14" name="body"/>
          <p:cNvSpPr txBox="1"/>
          <p:nvPr/>
        </p:nvSpPr>
        <p:spPr>
          <a:xfrm>
            <a:off x="7680960" y="2379980"/>
            <a:ext cx="3779519" cy="347472"/>
          </a:xfrm>
          <a:prstGeom prst="rect">
            <a:avLst/>
          </a:prstGeom>
          <a:noFill/>
        </p:spPr>
        <p:txBody>
          <a:bodyPr wrap="square" lIns="18288" rIns="18288" tIns="18288" bIns="18288" anchor="t">
            <a:noAutofit/>
          </a:bodyPr>
          <a:lstStyle/>
          <a:p>
            <a:pPr algn="l">
              <a:spcAft>
                <a:spcPts val="400"/>
              </a:spcAft>
            </a:pPr>
            <a:r>
              <a:rPr sz="1500" b="0" lang="en-US">
                <a:solidFill>
                  <a:srgbClr val="526174"/>
                </a:solidFill>
                <a:latin typeface="Pretendard"/>
                <a:ea typeface="Pretendard"/>
                <a:cs typeface="Pretendard"/>
              </a:rPr>
              <a:t>Predicting α from</a:t>
            </a:r>
          </a:p>
        </p:txBody>
      </p:sp>
      <p:sp>
        <p:nvSpPr>
          <p:cNvPr id="15" name="body"/>
          <p:cNvSpPr txBox="1"/>
          <p:nvPr/>
        </p:nvSpPr>
        <p:spPr>
          <a:xfrm>
            <a:off x="7818120" y="2764028"/>
            <a:ext cx="2865119" cy="365760"/>
          </a:xfrm>
          <a:prstGeom prst="rect">
            <a:avLst/>
          </a:prstGeom>
          <a:noFill/>
        </p:spPr>
        <p:txBody>
          <a:bodyPr wrap="square" lIns="18288" rIns="18288" tIns="18288" bIns="18288" anchor="t">
            <a:noAutofit/>
          </a:bodyPr>
          <a:lstStyle/>
          <a:p>
            <a:pPr algn="l">
              <a:spcAft>
                <a:spcPts val="400"/>
              </a:spcAft>
            </a:pPr>
            <a:r>
              <a:rPr sz="1700" b="0" lang="en-US">
                <a:solidFill>
                  <a:srgbClr val="172033"/>
                </a:solidFill>
                <a:latin typeface="Pretendard"/>
                <a:ea typeface="Pretendard"/>
                <a:cs typeface="Pretendard"/>
              </a:rPr>
              <a:t>abundance alone</a:t>
            </a:r>
          </a:p>
        </p:txBody>
      </p:sp>
      <p:sp>
        <p:nvSpPr>
          <p:cNvPr id="16" name="body"/>
          <p:cNvSpPr txBox="1"/>
          <p:nvPr/>
        </p:nvSpPr>
        <p:spPr>
          <a:xfrm>
            <a:off x="10637519" y="2764028"/>
            <a:ext cx="868680" cy="365760"/>
          </a:xfrm>
          <a:prstGeom prst="rect">
            <a:avLst/>
          </a:prstGeom>
          <a:noFill/>
        </p:spPr>
        <p:txBody>
          <a:bodyPr wrap="square" lIns="18288" rIns="18288" tIns="18288" bIns="18288" anchor="t">
            <a:noAutofit/>
          </a:bodyPr>
          <a:lstStyle/>
          <a:p>
            <a:pPr algn="r">
              <a:spcAft>
                <a:spcPts val="400"/>
              </a:spcAft>
            </a:pPr>
            <a:r>
              <a:rPr sz="1800" b="1" lang="en-US">
                <a:solidFill>
                  <a:srgbClr val="2457C5"/>
                </a:solidFill>
                <a:latin typeface="Pretendard"/>
                <a:ea typeface="Pretendard"/>
                <a:cs typeface="Pretendard"/>
              </a:rPr>
              <a:t>+0.724</a:t>
            </a:r>
          </a:p>
        </p:txBody>
      </p:sp>
      <p:sp>
        <p:nvSpPr>
          <p:cNvPr id="17" name="body"/>
          <p:cNvSpPr txBox="1"/>
          <p:nvPr/>
        </p:nvSpPr>
        <p:spPr>
          <a:xfrm>
            <a:off x="7818120" y="3221228"/>
            <a:ext cx="2865119" cy="365760"/>
          </a:xfrm>
          <a:prstGeom prst="rect">
            <a:avLst/>
          </a:prstGeom>
          <a:noFill/>
        </p:spPr>
        <p:txBody>
          <a:bodyPr wrap="square" lIns="18288" rIns="18288" tIns="18288" bIns="18288" anchor="t">
            <a:noAutofit/>
          </a:bodyPr>
          <a:lstStyle/>
          <a:p>
            <a:pPr algn="l">
              <a:spcAft>
                <a:spcPts val="400"/>
              </a:spcAft>
            </a:pPr>
            <a:r>
              <a:rPr sz="1700" b="0" lang="en-US">
                <a:solidFill>
                  <a:srgbClr val="172033"/>
                </a:solidFill>
                <a:latin typeface="Pretendard"/>
                <a:ea typeface="Pretendard"/>
                <a:cs typeface="Pretendard"/>
              </a:rPr>
              <a:t>day-0 ATAC alone</a:t>
            </a:r>
          </a:p>
        </p:txBody>
      </p:sp>
      <p:sp>
        <p:nvSpPr>
          <p:cNvPr id="18" name="body"/>
          <p:cNvSpPr txBox="1"/>
          <p:nvPr/>
        </p:nvSpPr>
        <p:spPr>
          <a:xfrm>
            <a:off x="10637519" y="3221228"/>
            <a:ext cx="868680" cy="365760"/>
          </a:xfrm>
          <a:prstGeom prst="rect">
            <a:avLst/>
          </a:prstGeom>
          <a:noFill/>
        </p:spPr>
        <p:txBody>
          <a:bodyPr wrap="square" lIns="18288" rIns="18288" tIns="18288" bIns="18288" anchor="t">
            <a:noAutofit/>
          </a:bodyPr>
          <a:lstStyle/>
          <a:p>
            <a:pPr algn="r">
              <a:spcAft>
                <a:spcPts val="400"/>
              </a:spcAft>
            </a:pPr>
            <a:r>
              <a:rPr sz="1800" b="1" lang="en-US">
                <a:solidFill>
                  <a:srgbClr val="2457C5"/>
                </a:solidFill>
                <a:latin typeface="Pretendard"/>
                <a:ea typeface="Pretendard"/>
                <a:cs typeface="Pretendard"/>
              </a:rPr>
              <a:t>+0.309</a:t>
            </a:r>
          </a:p>
        </p:txBody>
      </p:sp>
      <p:sp>
        <p:nvSpPr>
          <p:cNvPr id="19" name="body"/>
          <p:cNvSpPr txBox="1"/>
          <p:nvPr/>
        </p:nvSpPr>
        <p:spPr>
          <a:xfrm>
            <a:off x="7818120" y="3678428"/>
            <a:ext cx="2865119" cy="365760"/>
          </a:xfrm>
          <a:prstGeom prst="rect">
            <a:avLst/>
          </a:prstGeom>
          <a:noFill/>
        </p:spPr>
        <p:txBody>
          <a:bodyPr wrap="square" lIns="18288" rIns="18288" tIns="18288" bIns="18288" anchor="t">
            <a:noAutofit/>
          </a:bodyPr>
          <a:lstStyle/>
          <a:p>
            <a:pPr algn="l">
              <a:spcAft>
                <a:spcPts val="400"/>
              </a:spcAft>
            </a:pPr>
            <a:r>
              <a:rPr sz="1700" b="0" lang="en-US">
                <a:solidFill>
                  <a:srgbClr val="172033"/>
                </a:solidFill>
                <a:latin typeface="Pretendard"/>
                <a:ea typeface="Pretendard"/>
                <a:cs typeface="Pretendard"/>
              </a:rPr>
              <a:t>abundance + ATAC</a:t>
            </a:r>
          </a:p>
        </p:txBody>
      </p:sp>
      <p:sp>
        <p:nvSpPr>
          <p:cNvPr id="20" name="body"/>
          <p:cNvSpPr txBox="1"/>
          <p:nvPr/>
        </p:nvSpPr>
        <p:spPr>
          <a:xfrm>
            <a:off x="10637519" y="3678428"/>
            <a:ext cx="868680" cy="365760"/>
          </a:xfrm>
          <a:prstGeom prst="rect">
            <a:avLst/>
          </a:prstGeom>
          <a:noFill/>
        </p:spPr>
        <p:txBody>
          <a:bodyPr wrap="square" lIns="18288" rIns="18288" tIns="18288" bIns="18288" anchor="t">
            <a:noAutofit/>
          </a:bodyPr>
          <a:lstStyle/>
          <a:p>
            <a:pPr algn="r">
              <a:spcAft>
                <a:spcPts val="400"/>
              </a:spcAft>
            </a:pPr>
            <a:r>
              <a:rPr sz="1800" b="1" lang="en-US">
                <a:solidFill>
                  <a:srgbClr val="2457C5"/>
                </a:solidFill>
                <a:latin typeface="Pretendard"/>
                <a:ea typeface="Pretendard"/>
                <a:cs typeface="Pretendard"/>
              </a:rPr>
              <a:t>+0.708</a:t>
            </a:r>
          </a:p>
        </p:txBody>
      </p:sp>
      <p:sp>
        <p:nvSpPr>
          <p:cNvPr id="21" name="body"/>
          <p:cNvSpPr txBox="1"/>
          <p:nvPr/>
        </p:nvSpPr>
        <p:spPr>
          <a:xfrm>
            <a:off x="7818120" y="4135628"/>
            <a:ext cx="2865119" cy="365760"/>
          </a:xfrm>
          <a:prstGeom prst="rect">
            <a:avLst/>
          </a:prstGeom>
          <a:noFill/>
        </p:spPr>
        <p:txBody>
          <a:bodyPr wrap="square" lIns="18288" rIns="18288" tIns="18288" bIns="18288" anchor="t">
            <a:noAutofit/>
          </a:bodyPr>
          <a:lstStyle/>
          <a:p>
            <a:pPr algn="l">
              <a:spcAft>
                <a:spcPts val="400"/>
              </a:spcAft>
            </a:pPr>
            <a:r>
              <a:rPr sz="1700" b="0" lang="en-US">
                <a:solidFill>
                  <a:srgbClr val="172033"/>
                </a:solidFill>
                <a:latin typeface="Pretendard"/>
                <a:ea typeface="Pretendard"/>
                <a:cs typeface="Pretendard"/>
              </a:rPr>
              <a:t>gain from ATAC</a:t>
            </a:r>
          </a:p>
        </p:txBody>
      </p:sp>
      <p:sp>
        <p:nvSpPr>
          <p:cNvPr id="22" name="body"/>
          <p:cNvSpPr txBox="1"/>
          <p:nvPr/>
        </p:nvSpPr>
        <p:spPr>
          <a:xfrm>
            <a:off x="10637519" y="4135628"/>
            <a:ext cx="868680" cy="365760"/>
          </a:xfrm>
          <a:prstGeom prst="rect">
            <a:avLst/>
          </a:prstGeom>
          <a:noFill/>
        </p:spPr>
        <p:txBody>
          <a:bodyPr wrap="square" lIns="18288" rIns="18288" tIns="18288" bIns="18288" anchor="t">
            <a:noAutofit/>
          </a:bodyPr>
          <a:lstStyle/>
          <a:p>
            <a:pPr algn="r">
              <a:spcAft>
                <a:spcPts val="400"/>
              </a:spcAft>
            </a:pPr>
            <a:r>
              <a:rPr sz="1800" b="1" lang="en-US">
                <a:solidFill>
                  <a:srgbClr val="2457C5"/>
                </a:solidFill>
                <a:latin typeface="Pretendard"/>
                <a:ea typeface="Pretendard"/>
                <a:cs typeface="Pretendard"/>
              </a:rPr>
              <a:t>−0.016</a:t>
            </a:r>
          </a:p>
        </p:txBody>
      </p:sp>
      <p:sp>
        <p:nvSpPr>
          <p:cNvPr id="23" name="body"/>
          <p:cNvSpPr txBox="1"/>
          <p:nvPr/>
        </p:nvSpPr>
        <p:spPr>
          <a:xfrm>
            <a:off x="7680960" y="4592828"/>
            <a:ext cx="3779519" cy="347472"/>
          </a:xfrm>
          <a:prstGeom prst="rect">
            <a:avLst/>
          </a:prstGeom>
          <a:noFill/>
        </p:spPr>
        <p:txBody>
          <a:bodyPr wrap="square" lIns="18288" rIns="18288" tIns="18288" bIns="18288" anchor="t">
            <a:noAutofit/>
          </a:bodyPr>
          <a:lstStyle/>
          <a:p>
            <a:pPr algn="l">
              <a:spcAft>
                <a:spcPts val="400"/>
              </a:spcAft>
            </a:pPr>
            <a:r>
              <a:rPr sz="1500" b="0" lang="en-US">
                <a:solidFill>
                  <a:srgbClr val="526174"/>
                </a:solidFill>
                <a:latin typeface="Pretendard"/>
                <a:ea typeface="Pretendard"/>
                <a:cs typeface="Pretendard"/>
              </a:rPr>
              <a:t>Predicting the lag (coupled-on) from</a:t>
            </a:r>
          </a:p>
        </p:txBody>
      </p:sp>
      <p:sp>
        <p:nvSpPr>
          <p:cNvPr id="24" name="body"/>
          <p:cNvSpPr txBox="1"/>
          <p:nvPr/>
        </p:nvSpPr>
        <p:spPr>
          <a:xfrm>
            <a:off x="7818120" y="4976876"/>
            <a:ext cx="2865119" cy="365760"/>
          </a:xfrm>
          <a:prstGeom prst="rect">
            <a:avLst/>
          </a:prstGeom>
          <a:noFill/>
        </p:spPr>
        <p:txBody>
          <a:bodyPr wrap="square" lIns="18288" rIns="18288" tIns="18288" bIns="18288" anchor="t">
            <a:noAutofit/>
          </a:bodyPr>
          <a:lstStyle/>
          <a:p>
            <a:pPr algn="l">
              <a:spcAft>
                <a:spcPts val="400"/>
              </a:spcAft>
            </a:pPr>
            <a:r>
              <a:rPr sz="1700" b="0" lang="en-US">
                <a:solidFill>
                  <a:srgbClr val="172033"/>
                </a:solidFill>
                <a:latin typeface="Pretendard"/>
                <a:ea typeface="Pretendard"/>
                <a:cs typeface="Pretendard"/>
              </a:rPr>
              <a:t>day-0 ATAC</a:t>
            </a:r>
          </a:p>
        </p:txBody>
      </p:sp>
      <p:sp>
        <p:nvSpPr>
          <p:cNvPr id="25" name="body"/>
          <p:cNvSpPr txBox="1"/>
          <p:nvPr/>
        </p:nvSpPr>
        <p:spPr>
          <a:xfrm>
            <a:off x="10637519" y="4976876"/>
            <a:ext cx="868680" cy="365760"/>
          </a:xfrm>
          <a:prstGeom prst="rect">
            <a:avLst/>
          </a:prstGeom>
          <a:noFill/>
        </p:spPr>
        <p:txBody>
          <a:bodyPr wrap="square" lIns="18288" rIns="18288" tIns="18288" bIns="18288" anchor="t">
            <a:noAutofit/>
          </a:bodyPr>
          <a:lstStyle/>
          <a:p>
            <a:pPr algn="r">
              <a:spcAft>
                <a:spcPts val="400"/>
              </a:spcAft>
            </a:pPr>
            <a:r>
              <a:rPr sz="1800" b="1" lang="en-US">
                <a:solidFill>
                  <a:srgbClr val="2457C5"/>
                </a:solidFill>
                <a:latin typeface="Pretendard"/>
                <a:ea typeface="Pretendard"/>
                <a:cs typeface="Pretendard"/>
              </a:rPr>
              <a:t>+0.049</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932688"/>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Take-home</a:t>
            </a:r>
          </a:p>
        </p:txBody>
      </p:sp>
      <p:sp>
        <p:nvSpPr>
          <p:cNvPr id="3" name="title-accent"/>
          <p:cNvSpPr/>
          <p:nvPr/>
        </p:nvSpPr>
        <p:spPr>
          <a:xfrm>
            <a:off x="502920" y="1353312"/>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12</a:t>
            </a:r>
          </a:p>
        </p:txBody>
      </p:sp>
      <p:sp>
        <p:nvSpPr>
          <p:cNvPr id="5" name="bullet"/>
          <p:cNvSpPr/>
          <p:nvPr/>
        </p:nvSpPr>
        <p:spPr>
          <a:xfrm>
            <a:off x="502920" y="1801368"/>
            <a:ext cx="73152" cy="56692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body"/>
          <p:cNvSpPr txBox="1"/>
          <p:nvPr/>
        </p:nvSpPr>
        <p:spPr>
          <a:xfrm>
            <a:off x="777240" y="1691640"/>
            <a:ext cx="10911839" cy="868680"/>
          </a:xfrm>
          <a:prstGeom prst="rect">
            <a:avLst/>
          </a:prstGeom>
          <a:noFill/>
        </p:spPr>
        <p:txBody>
          <a:bodyPr wrap="square" lIns="18288" rIns="18288" tIns="18288" bIns="18288" anchor="t">
            <a:noAutofit/>
          </a:bodyPr>
          <a:lstStyle/>
          <a:p>
            <a:pPr algn="l">
              <a:spcAft>
                <a:spcPts val="400"/>
              </a:spcAft>
            </a:pPr>
            <a:r>
              <a:rPr sz="2200" b="0" lang="en-US">
                <a:solidFill>
                  <a:srgbClr val="172033"/>
                </a:solidFill>
                <a:latin typeface="Pretendard"/>
                <a:ea typeface="Pretendard"/>
                <a:cs typeface="Pretendard"/>
              </a:rPr>
              <a:t>Reliability of a velocity output is testable, on four axes.</a:t>
            </a:r>
          </a:p>
        </p:txBody>
      </p:sp>
      <p:sp>
        <p:nvSpPr>
          <p:cNvPr id="7" name="bullet"/>
          <p:cNvSpPr/>
          <p:nvPr/>
        </p:nvSpPr>
        <p:spPr>
          <a:xfrm>
            <a:off x="502920" y="2715768"/>
            <a:ext cx="73152" cy="56692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body"/>
          <p:cNvSpPr txBox="1"/>
          <p:nvPr/>
        </p:nvSpPr>
        <p:spPr>
          <a:xfrm>
            <a:off x="777240" y="2606040"/>
            <a:ext cx="10911839" cy="868680"/>
          </a:xfrm>
          <a:prstGeom prst="rect">
            <a:avLst/>
          </a:prstGeom>
          <a:noFill/>
        </p:spPr>
        <p:txBody>
          <a:bodyPr wrap="square" lIns="18288" rIns="18288" tIns="18288" bIns="18288" anchor="t">
            <a:noAutofit/>
          </a:bodyPr>
          <a:lstStyle/>
          <a:p>
            <a:pPr algn="l">
              <a:spcAft>
                <a:spcPts val="400"/>
              </a:spcAft>
            </a:pPr>
            <a:r>
              <a:rPr sz="2200" b="0" lang="en-US">
                <a:solidFill>
                  <a:srgbClr val="172033"/>
                </a:solidFill>
                <a:latin typeface="Pretendard"/>
                <a:ea typeface="Pretendard"/>
                <a:cs typeface="Pretendard"/>
              </a:rPr>
              <a:t>Among per-gene outputs only α reproduces, also beyond abundance; its kinetic accuracy is still open.</a:t>
            </a:r>
          </a:p>
        </p:txBody>
      </p:sp>
      <p:sp>
        <p:nvSpPr>
          <p:cNvPr id="9" name="bullet"/>
          <p:cNvSpPr/>
          <p:nvPr/>
        </p:nvSpPr>
        <p:spPr>
          <a:xfrm>
            <a:off x="502920" y="3630168"/>
            <a:ext cx="73152" cy="56692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body"/>
          <p:cNvSpPr txBox="1"/>
          <p:nvPr/>
        </p:nvSpPr>
        <p:spPr>
          <a:xfrm>
            <a:off x="777240" y="3520440"/>
            <a:ext cx="10911839" cy="868680"/>
          </a:xfrm>
          <a:prstGeom prst="rect">
            <a:avLst/>
          </a:prstGeom>
          <a:noFill/>
        </p:spPr>
        <p:txBody>
          <a:bodyPr wrap="square" lIns="18288" rIns="18288" tIns="18288" bIns="18288" anchor="t">
            <a:noAutofit/>
          </a:bodyPr>
          <a:lstStyle/>
          <a:p>
            <a:pPr algn="l">
              <a:spcAft>
                <a:spcPts val="400"/>
              </a:spcAft>
            </a:pPr>
            <a:r>
              <a:rPr sz="2200" b="0" lang="en-US">
                <a:solidFill>
                  <a:srgbClr val="172033"/>
                </a:solidFill>
                <a:latin typeface="Pretendard"/>
                <a:ea typeface="Pretendard"/>
                <a:cs typeface="Pretendard"/>
              </a:rPr>
              <a:t>The lag does not reproduce under any definition tested: treat it as a model output that needs orthogonal validation, not as a regulatory clock.</a:t>
            </a:r>
          </a:p>
        </p:txBody>
      </p:sp>
      <p:sp>
        <p:nvSpPr>
          <p:cNvPr id="11" name="box"/>
          <p:cNvSpPr/>
          <p:nvPr/>
        </p:nvSpPr>
        <p:spPr>
          <a:xfrm>
            <a:off x="502920" y="4526279"/>
            <a:ext cx="11186159" cy="960120"/>
          </a:xfrm>
          <a:prstGeom prst="roundRect">
            <a:avLst>
              <a:gd name="adj" fmla="val 12000"/>
            </a:avLst>
          </a:prstGeom>
          <a:solidFill>
            <a:srgbClr val="F8FAFD"/>
          </a:solidFill>
          <a:ln w="15875">
            <a:solidFill>
              <a:srgbClr val="D9DEE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body"/>
          <p:cNvSpPr txBox="1"/>
          <p:nvPr/>
        </p:nvSpPr>
        <p:spPr>
          <a:xfrm>
            <a:off x="685800" y="4599431"/>
            <a:ext cx="10820399" cy="868680"/>
          </a:xfrm>
          <a:prstGeom prst="rect">
            <a:avLst/>
          </a:prstGeom>
          <a:noFill/>
        </p:spPr>
        <p:txBody>
          <a:bodyPr wrap="square" lIns="18288" rIns="18288" tIns="18288" bIns="18288" anchor="t">
            <a:noAutofit/>
          </a:bodyPr>
          <a:lstStyle/>
          <a:p>
            <a:pPr algn="l">
              <a:spcAft>
                <a:spcPts val="400"/>
              </a:spcAft>
            </a:pPr>
            <a:r>
              <a:rPr sz="1500" b="0" lang="en-US">
                <a:solidFill>
                  <a:srgbClr val="172033"/>
                </a:solidFill>
                <a:latin typeface="Pretendard"/>
                <a:ea typeface="Pretendard"/>
                <a:cs typeface="Pretendard"/>
              </a:rPr>
              <a:t/>
            </a:r>
            <a:r>
              <a:rPr sz="1500" b="1" i="0" lang="en-US">
                <a:solidFill>
                  <a:srgbClr val="2457C5"/>
                </a:solidFill>
                <a:latin typeface="Pretendard"/>
                <a:ea typeface="Pretendard"/>
                <a:cs typeface="Pretendard"/>
              </a:rPr>
              <a:t>Limits  </a:t>
            </a:r>
            <a:r>
              <a:rPr sz="1500" b="0" i="0" lang="en-US">
                <a:solidFill>
                  <a:srgbClr val="172033"/>
                </a:solidFill>
                <a:latin typeface="Pretendard"/>
                <a:ea typeface="Pretendard"/>
                <a:cs typeface="Pretendard"/>
              </a:rPr>
              <a:t>Pseudotime is not wall-clock time. External replications are single samples (no donor variation). The α anchor is one of two synthesis sources, measured in K562 rather than HSPC. Within-method stability was assessed only for MultiVelo's coupled-on duration. We audited per-gene parameters, not trajectories.</a:t>
            </a:r>
          </a:p>
        </p:txBody>
      </p:sp>
      <p:sp>
        <p:nvSpPr>
          <p:cNvPr id="13" name="acknowledgements"/>
          <p:cNvSpPr txBox="1"/>
          <p:nvPr/>
        </p:nvSpPr>
        <p:spPr>
          <a:xfrm>
            <a:off x="502920" y="5989320"/>
            <a:ext cx="10454639" cy="548640"/>
          </a:xfrm>
          <a:prstGeom prst="rect">
            <a:avLst/>
          </a:prstGeom>
          <a:noFill/>
        </p:spPr>
        <p:txBody>
          <a:bodyPr wrap="square" lIns="18288" rIns="18288" tIns="18288" bIns="18288" anchor="t">
            <a:noAutofit/>
          </a:bodyPr>
          <a:lstStyle/>
          <a:p>
            <a:pPr algn="l">
              <a:spcAft>
                <a:spcPts val="400"/>
              </a:spcAft>
            </a:pPr>
            <a:r>
              <a:rPr sz="1250" b="0" lang="en-US">
                <a:solidFill>
                  <a:srgbClr val="526174"/>
                </a:solidFill>
                <a:latin typeface="Pretendard"/>
                <a:ea typeface="Pretendard"/>
                <a:cs typeface="Pretendard"/>
              </a:rPr>
              <a:t>Thanks to Pseudo Lab, a non-profit AI/ML research community, and to Sangjun Park (Yonsei University) for the initial idea. Supported by the Open Source AI·SW Developer and Community Support Program, Ministry of Science and ICT, Republic of Korea.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Backup: profile likelihood gives relative precision, and it depends on coordinates</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Lag = MultiVelo coupled-on duration. 258 genes with an interior lag profile and positive curvature κ on both axes; nuisance parameters fixed.</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13</a:t>
            </a:r>
          </a:p>
        </p:txBody>
      </p:sp>
      <p:graphicFrame>
        <p:nvGraphicFramePr>
          <p:cNvPr id="6" name="table"/>
          <p:cNvGraphicFramePr>
            <a:graphicFrameLocks noGrp="1"/>
          </p:cNvGraphicFramePr>
          <p:nvPr/>
        </p:nvGraphicFramePr>
        <p:xfrm>
          <a:off x="502920" y="1785620"/>
          <a:ext cx="11183112" cy="1737360"/>
        </p:xfrm>
        <a:graphic>
          <a:graphicData uri="http://schemas.openxmlformats.org/drawingml/2006/table">
            <a:tbl>
              <a:tblPr firstRow="1" bandRow="1">
                <a:tableStyleId>{5C22544A-7EE6-4342-B048-85BDC9FD1C3A}</a:tableStyleId>
              </a:tblPr>
              <a:tblGrid>
                <a:gridCol w="4480560"/>
                <a:gridCol w="2377440"/>
                <a:gridCol w="2651760"/>
                <a:gridCol w="1673352"/>
              </a:tblGrid>
              <a:tr h="579120">
                <a:tc>
                  <a:txBody>
                    <a:bodyPr wrap="square"/>
                    <a:lstStyle/>
                    <a:p>
                      <a:pPr algn="l"/>
                      <a:r>
                        <a:rPr sz="1800" b="1" lang="en-US">
                          <a:solidFill>
                            <a:srgbClr val="FFFFFF"/>
                          </a:solidFill>
                          <a:latin typeface="Pretendard"/>
                          <a:ea typeface="Pretendard"/>
                          <a:cs typeface="Pretendard"/>
                        </a:rPr>
                        <a:t>Coordinates for the curvature κ</a:t>
                      </a:r>
                    </a:p>
                  </a:txBody>
                  <a:tcPr marL="73152" marR="73152" marT="36576" marB="36576" anchor="ctr">
                    <a:solidFill>
                      <a:srgbClr val="2457C5"/>
                    </a:solidFill>
                  </a:tcPr>
                </a:tc>
                <a:tc>
                  <a:txBody>
                    <a:bodyPr wrap="square"/>
                    <a:lstStyle/>
                    <a:p>
                      <a:pPr algn="ctr"/>
                      <a:r>
                        <a:rPr sz="1800" b="1" lang="en-US">
                          <a:solidFill>
                            <a:srgbClr val="FFFFFF"/>
                          </a:solidFill>
                          <a:latin typeface="Pretendard"/>
                          <a:ea typeface="Pretendard"/>
                          <a:cs typeface="Pretendard"/>
                        </a:rPr>
                        <a:t>Median κ_α / κ_lag</a:t>
                      </a:r>
                    </a:p>
                  </a:txBody>
                  <a:tcPr marL="73152" marR="73152" marT="36576" marB="36576" anchor="ctr">
                    <a:solidFill>
                      <a:srgbClr val="2457C5"/>
                    </a:solidFill>
                  </a:tcPr>
                </a:tc>
                <a:tc>
                  <a:txBody>
                    <a:bodyPr wrap="square"/>
                    <a:lstStyle/>
                    <a:p>
                      <a:pPr algn="ctr"/>
                      <a:r>
                        <a:rPr sz="1800" b="1" lang="en-US">
                          <a:solidFill>
                            <a:srgbClr val="FFFFFF"/>
                          </a:solidFill>
                          <a:latin typeface="Pretendard"/>
                          <a:ea typeface="Pretendard"/>
                          <a:cs typeface="Pretendard"/>
                        </a:rPr>
                        <a:t>Interquartile range</a:t>
                      </a:r>
                    </a:p>
                  </a:txBody>
                  <a:tcPr marL="73152" marR="73152" marT="36576" marB="36576" anchor="ctr">
                    <a:solidFill>
                      <a:srgbClr val="2457C5"/>
                    </a:solidFill>
                  </a:tcPr>
                </a:tc>
                <a:tc>
                  <a:txBody>
                    <a:bodyPr wrap="square"/>
                    <a:lstStyle/>
                    <a:p>
                      <a:pPr algn="ctr"/>
                      <a:r>
                        <a:rPr sz="1800" b="1" lang="en-US">
                          <a:solidFill>
                            <a:srgbClr val="FFFFFF"/>
                          </a:solidFill>
                          <a:latin typeface="Pretendard"/>
                          <a:ea typeface="Pretendard"/>
                          <a:cs typeface="Pretendard"/>
                        </a:rPr>
                        <a:t>α tighter</a:t>
                      </a:r>
                    </a:p>
                  </a:txBody>
                  <a:tcPr marL="73152" marR="73152" marT="36576" marB="36576" anchor="ctr">
                    <a:solidFill>
                      <a:srgbClr val="2457C5"/>
                    </a:solidFill>
                  </a:tcPr>
                </a:tc>
              </a:tr>
              <a:tr h="579120">
                <a:tc>
                  <a:txBody>
                    <a:bodyPr wrap="square"/>
                    <a:lstStyle/>
                    <a:p>
                      <a:pPr algn="l"/>
                      <a:r>
                        <a:rPr sz="1800" b="1" lang="en-US">
                          <a:solidFill>
                            <a:srgbClr val="172033"/>
                          </a:solidFill>
                          <a:latin typeface="Pretendard"/>
                          <a:ea typeface="Pretendard"/>
                          <a:cs typeface="Pretendard"/>
                        </a:rPr>
                        <a:t>ln α vs ln lag (as submitted)</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3.53</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[1.92, 7.41]</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94.6%</a:t>
                      </a:r>
                    </a:p>
                  </a:txBody>
                  <a:tcPr marL="73152" marR="73152" marT="36576" marB="36576" anchor="ctr">
                    <a:solidFill>
                      <a:srgbClr val="FFFFFF"/>
                    </a:solidFill>
                  </a:tcPr>
                </a:tc>
              </a:tr>
              <a:tr h="579120">
                <a:tc>
                  <a:txBody>
                    <a:bodyPr wrap="square"/>
                    <a:lstStyle/>
                    <a:p>
                      <a:pPr algn="l"/>
                      <a:r>
                        <a:rPr sz="1800" b="1" lang="en-US">
                          <a:solidFill>
                            <a:srgbClr val="172033"/>
                          </a:solidFill>
                          <a:latin typeface="Pretendard"/>
                          <a:ea typeface="Pretendard"/>
                          <a:cs typeface="Pretendard"/>
                        </a:rPr>
                        <a:t>ln α vs lag as a fraction of the horizon</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0.10</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[0.03, 0.22]</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1.9%</a:t>
                      </a:r>
                    </a:p>
                  </a:txBody>
                  <a:tcPr marL="73152" marR="73152" marT="36576" marB="36576" anchor="ctr">
                    <a:solidFill>
                      <a:srgbClr val="F8FAFD"/>
                    </a:solidFill>
                  </a:tcPr>
                </a:tc>
              </a:tr>
            </a:tbl>
          </a:graphicData>
        </a:graphic>
      </p:graphicFrame>
      <p:sp>
        <p:nvSpPr>
          <p:cNvPr id="7" name="body"/>
          <p:cNvSpPr txBox="1"/>
          <p:nvPr/>
        </p:nvSpPr>
        <p:spPr>
          <a:xfrm>
            <a:off x="502920" y="3843019"/>
            <a:ext cx="11186159" cy="822960"/>
          </a:xfrm>
          <a:prstGeom prst="rect">
            <a:avLst/>
          </a:prstGeom>
          <a:noFill/>
        </p:spPr>
        <p:txBody>
          <a:bodyPr wrap="square" lIns="18288" rIns="18288" tIns="18288" bIns="18288" anchor="t">
            <a:noAutofit/>
          </a:bodyPr>
          <a:lstStyle/>
          <a:p>
            <a:pPr algn="l">
              <a:spcAft>
                <a:spcPts val="400"/>
              </a:spcAft>
            </a:pPr>
            <a:r>
              <a:rPr sz="2100" b="1" lang="en-US">
                <a:solidFill>
                  <a:srgbClr val="2457C5"/>
                </a:solidFill>
                <a:latin typeface="Pretendard"/>
                <a:ea typeface="Pretendard"/>
                <a:cs typeface="Pretendard"/>
              </a:rPr>
              <a:t>Neither coordinate system is canonical, so the claim is cross-method non-reproducibility, not strict non-identifiability.</a:t>
            </a:r>
          </a:p>
        </p:txBody>
      </p:sp>
      <p:sp>
        <p:nvSpPr>
          <p:cNvPr id="8" name="body"/>
          <p:cNvSpPr txBox="1"/>
          <p:nvPr/>
        </p:nvSpPr>
        <p:spPr>
          <a:xfrm>
            <a:off x="502920" y="4757420"/>
            <a:ext cx="11186159" cy="1097280"/>
          </a:xfrm>
          <a:prstGeom prst="rect">
            <a:avLst/>
          </a:prstGeom>
          <a:noFill/>
        </p:spPr>
        <p:txBody>
          <a:bodyPr wrap="square" lIns="18288" rIns="18288" tIns="18288" bIns="18288" anchor="t">
            <a:noAutofit/>
          </a:bodyPr>
          <a:lstStyle/>
          <a:p>
            <a:pPr algn="l">
              <a:spcAft>
                <a:spcPts val="400"/>
              </a:spcAft>
            </a:pPr>
            <a:r>
              <a:rPr sz="1800" b="0" lang="en-US">
                <a:solidFill>
                  <a:srgbClr val="172033"/>
                </a:solidFill>
                <a:latin typeface="Pretendard"/>
                <a:ea typeface="Pretendard"/>
                <a:cs typeface="Pretendard"/>
              </a:rPr>
              <a:t>Lag classes among the 538 genes: 302 interior, 205 boundary-pinned, 31 degenerate. 199 of the 205 boundary-pinned lags come from induction-only fits, which reflects trajectory coverage more than non-identifiability.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932688"/>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Backup: lag agreement on the three-method gene set</a:t>
            </a:r>
          </a:p>
        </p:txBody>
      </p:sp>
      <p:sp>
        <p:nvSpPr>
          <p:cNvPr id="3" name="title-accent"/>
          <p:cNvSpPr/>
          <p:nvPr/>
        </p:nvSpPr>
        <p:spPr>
          <a:xfrm>
            <a:off x="502920" y="1353312"/>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MultiVelo lag = coupled-on duration (t_sw2 − t_sw1). 537 genes shared by the three methods; 95% CI, B = 10,000.</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14</a:t>
            </a:r>
          </a:p>
        </p:txBody>
      </p:sp>
      <p:graphicFrame>
        <p:nvGraphicFramePr>
          <p:cNvPr id="6" name="table"/>
          <p:cNvGraphicFramePr>
            <a:graphicFrameLocks noGrp="1"/>
          </p:cNvGraphicFramePr>
          <p:nvPr/>
        </p:nvGraphicFramePr>
        <p:xfrm>
          <a:off x="502920" y="1737360"/>
          <a:ext cx="11183112" cy="3931920"/>
        </p:xfrm>
        <a:graphic>
          <a:graphicData uri="http://schemas.openxmlformats.org/drawingml/2006/table">
            <a:tbl>
              <a:tblPr firstRow="1" bandRow="1">
                <a:tableStyleId>{5C22544A-7EE6-4342-B048-85BDC9FD1C3A}</a:tableStyleId>
              </a:tblPr>
              <a:tblGrid>
                <a:gridCol w="4937760"/>
                <a:gridCol w="3108960"/>
                <a:gridCol w="3136392"/>
              </a:tblGrid>
              <a:tr h="655320">
                <a:tc>
                  <a:txBody>
                    <a:bodyPr wrap="square"/>
                    <a:lstStyle/>
                    <a:p>
                      <a:pPr algn="l"/>
                      <a:r>
                        <a:rPr sz="1700" b="1" lang="en-US">
                          <a:solidFill>
                            <a:srgbClr val="FFFFFF"/>
                          </a:solidFill>
                          <a:latin typeface="Pretendard"/>
                          <a:ea typeface="Pretendard"/>
                          <a:cs typeface="Pretendard"/>
                        </a:rPr>
                        <a:t>Pair (lag magnitude unless noted)</a:t>
                      </a:r>
                    </a:p>
                  </a:txBody>
                  <a:tcPr marL="73152" marR="73152" marT="36576" marB="36576" anchor="ctr">
                    <a:solidFill>
                      <a:srgbClr val="2457C5"/>
                    </a:solidFill>
                  </a:tcPr>
                </a:tc>
                <a:tc>
                  <a:txBody>
                    <a:bodyPr wrap="square"/>
                    <a:lstStyle/>
                    <a:p>
                      <a:pPr algn="ctr"/>
                      <a:r>
                        <a:rPr sz="1700" b="1" lang="en-US">
                          <a:solidFill>
                            <a:srgbClr val="FFFFFF"/>
                          </a:solidFill>
                          <a:latin typeface="Pretendard"/>
                          <a:ea typeface="Pretendard"/>
                          <a:cs typeface="Pretendard"/>
                        </a:rPr>
                        <a:t>Spearman ρ</a:t>
                      </a:r>
                    </a:p>
                  </a:txBody>
                  <a:tcPr marL="73152" marR="73152" marT="36576" marB="36576" anchor="ctr">
                    <a:solidFill>
                      <a:srgbClr val="2457C5"/>
                    </a:solidFill>
                  </a:tcPr>
                </a:tc>
                <a:tc>
                  <a:txBody>
                    <a:bodyPr wrap="square"/>
                    <a:lstStyle/>
                    <a:p>
                      <a:pPr algn="ctr"/>
                      <a:r>
                        <a:rPr sz="1700" b="1" lang="en-US">
                          <a:solidFill>
                            <a:srgbClr val="FFFFFF"/>
                          </a:solidFill>
                          <a:latin typeface="Pretendard"/>
                          <a:ea typeface="Pretendard"/>
                          <a:cs typeface="Pretendard"/>
                        </a:rPr>
                        <a:t>Δρ = ρ_α − ρ_lag</a:t>
                      </a:r>
                    </a:p>
                  </a:txBody>
                  <a:tcPr marL="73152" marR="73152" marT="36576" marB="36576" anchor="ctr">
                    <a:solidFill>
                      <a:srgbClr val="2457C5"/>
                    </a:solidFill>
                  </a:tcPr>
                </a:tc>
              </a:tr>
              <a:tr h="655320">
                <a:tc>
                  <a:txBody>
                    <a:bodyPr wrap="square"/>
                    <a:lstStyle/>
                    <a:p>
                      <a:pPr algn="l"/>
                      <a:r>
                        <a:rPr sz="1700" b="1" lang="en-US">
                          <a:solidFill>
                            <a:srgbClr val="172033"/>
                          </a:solidFill>
                          <a:latin typeface="Pretendard"/>
                          <a:ea typeface="Pretendard"/>
                          <a:cs typeface="Pretendard"/>
                        </a:rPr>
                        <a:t>MultiVelo × MultiVeloVAE</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+0.165</a:t>
                      </a:r>
                    </a:p>
                    <a:p>
                      <a:pPr algn="ctr"/>
                      <a:r>
                        <a:rPr sz="1300" b="0" lang="en-US">
                          <a:solidFill>
                            <a:srgbClr val="526174"/>
                          </a:solidFill>
                          <a:latin typeface="Pretendard"/>
                          <a:ea typeface="Pretendard"/>
                          <a:cs typeface="Pretendard"/>
                        </a:rPr>
                        <a:t>[+0.080, +0.248]</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+0.717</a:t>
                      </a:r>
                    </a:p>
                    <a:p>
                      <a:pPr algn="ctr"/>
                      <a:r>
                        <a:rPr sz="1300" b="0" lang="en-US">
                          <a:solidFill>
                            <a:srgbClr val="526174"/>
                          </a:solidFill>
                          <a:latin typeface="Pretendard"/>
                          <a:ea typeface="Pretendard"/>
                          <a:cs typeface="Pretendard"/>
                        </a:rPr>
                        <a:t>[+0.635, +0.799]</a:t>
                      </a:r>
                    </a:p>
                  </a:txBody>
                  <a:tcPr marL="73152" marR="73152" marT="36576" marB="36576" anchor="ctr">
                    <a:solidFill>
                      <a:srgbClr val="FFFFFF"/>
                    </a:solidFill>
                  </a:tcPr>
                </a:tc>
              </a:tr>
              <a:tr h="655320">
                <a:tc>
                  <a:txBody>
                    <a:bodyPr wrap="square"/>
                    <a:lstStyle/>
                    <a:p>
                      <a:pPr algn="l"/>
                      <a:r>
                        <a:rPr sz="1700" b="1" lang="en-US">
                          <a:solidFill>
                            <a:srgbClr val="172033"/>
                          </a:solidFill>
                          <a:latin typeface="Pretendard"/>
                          <a:ea typeface="Pretendard"/>
                          <a:cs typeface="Pretendard"/>
                        </a:rPr>
                        <a:t>MultiVelo × MoFlow</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−0.013</a:t>
                      </a:r>
                    </a:p>
                    <a:p>
                      <a:pPr algn="ctr"/>
                      <a:r>
                        <a:rPr sz="1300" b="0" lang="en-US">
                          <a:solidFill>
                            <a:srgbClr val="526174"/>
                          </a:solidFill>
                          <a:latin typeface="Pretendard"/>
                          <a:ea typeface="Pretendard"/>
                          <a:cs typeface="Pretendard"/>
                        </a:rPr>
                        <a:t>[−0.097, +0.070]</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+0.896</a:t>
                      </a:r>
                    </a:p>
                    <a:p>
                      <a:pPr algn="ctr"/>
                      <a:r>
                        <a:rPr sz="1300" b="0" lang="en-US">
                          <a:solidFill>
                            <a:srgbClr val="526174"/>
                          </a:solidFill>
                          <a:latin typeface="Pretendard"/>
                          <a:ea typeface="Pretendard"/>
                          <a:cs typeface="Pretendard"/>
                        </a:rPr>
                        <a:t>[+0.807, +0.984]</a:t>
                      </a:r>
                    </a:p>
                  </a:txBody>
                  <a:tcPr marL="73152" marR="73152" marT="36576" marB="36576" anchor="ctr">
                    <a:solidFill>
                      <a:srgbClr val="F8FAFD"/>
                    </a:solidFill>
                  </a:tcPr>
                </a:tc>
              </a:tr>
              <a:tr h="655320">
                <a:tc>
                  <a:txBody>
                    <a:bodyPr wrap="square"/>
                    <a:lstStyle/>
                    <a:p>
                      <a:pPr algn="l"/>
                      <a:r>
                        <a:rPr sz="1700" b="1" lang="en-US">
                          <a:solidFill>
                            <a:srgbClr val="172033"/>
                          </a:solidFill>
                          <a:latin typeface="Pretendard"/>
                          <a:ea typeface="Pretendard"/>
                          <a:cs typeface="Pretendard"/>
                        </a:rPr>
                        <a:t>MultiVeloVAE × MoFlow</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−0.064</a:t>
                      </a:r>
                    </a:p>
                    <a:p>
                      <a:pPr algn="ctr"/>
                      <a:r>
                        <a:rPr sz="1300" b="0" lang="en-US">
                          <a:solidFill>
                            <a:srgbClr val="526174"/>
                          </a:solidFill>
                          <a:latin typeface="Pretendard"/>
                          <a:ea typeface="Pretendard"/>
                          <a:cs typeface="Pretendard"/>
                        </a:rPr>
                        <a:t>[−0.148, +0.023]</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+0.946</a:t>
                      </a:r>
                    </a:p>
                    <a:p>
                      <a:pPr algn="ctr"/>
                      <a:r>
                        <a:rPr sz="1300" b="0" lang="en-US">
                          <a:solidFill>
                            <a:srgbClr val="526174"/>
                          </a:solidFill>
                          <a:latin typeface="Pretendard"/>
                          <a:ea typeface="Pretendard"/>
                          <a:cs typeface="Pretendard"/>
                        </a:rPr>
                        <a:t>[+0.855, +1.031]</a:t>
                      </a:r>
                    </a:p>
                  </a:txBody>
                  <a:tcPr marL="73152" marR="73152" marT="36576" marB="36576" anchor="ctr">
                    <a:solidFill>
                      <a:srgbClr val="FFFFFF"/>
                    </a:solidFill>
                  </a:tcPr>
                </a:tc>
              </a:tr>
              <a:tr h="655320">
                <a:tc>
                  <a:txBody>
                    <a:bodyPr wrap="square"/>
                    <a:lstStyle/>
                    <a:p>
                      <a:pPr algn="l"/>
                      <a:r>
                        <a:rPr sz="1700" b="1" lang="en-US">
                          <a:solidFill>
                            <a:srgbClr val="172033"/>
                          </a:solidFill>
                          <a:latin typeface="Pretendard"/>
                          <a:ea typeface="Pretendard"/>
                          <a:cs typeface="Pretendard"/>
                        </a:rPr>
                        <a:t>MultiVeloVAE × MoFlow, signed</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+0.107</a:t>
                      </a:r>
                    </a:p>
                    <a:p>
                      <a:pPr algn="ctr"/>
                      <a:r>
                        <a:rPr sz="1300" b="0" lang="en-US">
                          <a:solidFill>
                            <a:srgbClr val="526174"/>
                          </a:solidFill>
                          <a:latin typeface="Pretendard"/>
                          <a:ea typeface="Pretendard"/>
                          <a:cs typeface="Pretendard"/>
                        </a:rPr>
                        <a:t>[+0.022, +0.188]</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+0.776</a:t>
                      </a:r>
                    </a:p>
                    <a:p>
                      <a:pPr algn="ctr"/>
                      <a:r>
                        <a:rPr sz="1300" b="0" lang="en-US">
                          <a:solidFill>
                            <a:srgbClr val="526174"/>
                          </a:solidFill>
                          <a:latin typeface="Pretendard"/>
                          <a:ea typeface="Pretendard"/>
                          <a:cs typeface="Pretendard"/>
                        </a:rPr>
                        <a:t>[+0.692, +0.861]</a:t>
                      </a:r>
                    </a:p>
                  </a:txBody>
                  <a:tcPr marL="73152" marR="73152" marT="36576" marB="36576" anchor="ctr">
                    <a:solidFill>
                      <a:srgbClr val="F8FAFD"/>
                    </a:solidFill>
                  </a:tcPr>
                </a:tc>
              </a:tr>
              <a:tr h="655320">
                <a:tc>
                  <a:txBody>
                    <a:bodyPr wrap="square"/>
                    <a:lstStyle/>
                    <a:p>
                      <a:pPr algn="l"/>
                      <a:r>
                        <a:rPr sz="1700" b="1" lang="en-US">
                          <a:solidFill>
                            <a:srgbClr val="172033"/>
                          </a:solidFill>
                          <a:latin typeface="Pretendard"/>
                          <a:ea typeface="Pretendard"/>
                          <a:cs typeface="Pretendard"/>
                        </a:rPr>
                        <a:t>α, MultiVelo × MultiVeloVAE</a:t>
                      </a:r>
                    </a:p>
                  </a:txBody>
                  <a:tcPr marL="73152" marR="73152" marT="36576" marB="36576" anchor="ctr">
                    <a:solidFill>
                      <a:srgbClr val="FFFFFF"/>
                    </a:solidFill>
                  </a:tcPr>
                </a:tc>
                <a:tc>
                  <a:txBody>
                    <a:bodyPr wrap="square"/>
                    <a:lstStyle/>
                    <a:p>
                      <a:pPr algn="ctr"/>
                      <a:r>
                        <a:rPr sz="1800" b="1" lang="en-US">
                          <a:solidFill>
                            <a:srgbClr val="2457C5"/>
                          </a:solidFill>
                          <a:latin typeface="Pretendard"/>
                          <a:ea typeface="Pretendard"/>
                          <a:cs typeface="Pretendard"/>
                        </a:rPr>
                        <a:t>+0.882</a:t>
                      </a:r>
                    </a:p>
                    <a:p>
                      <a:pPr algn="ctr"/>
                      <a:r>
                        <a:rPr sz="1300" b="0" lang="en-US">
                          <a:solidFill>
                            <a:srgbClr val="526174"/>
                          </a:solidFill>
                          <a:latin typeface="Pretendard"/>
                          <a:ea typeface="Pretendard"/>
                          <a:cs typeface="Pretendard"/>
                        </a:rPr>
                        <a:t>[+0.854, +0.905]</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a:t>
                      </a:r>
                    </a:p>
                  </a:txBody>
                  <a:tcPr marL="73152" marR="73152" marT="36576" marB="36576" anchor="ctr">
                    <a:solidFill>
                      <a:srgbClr val="FFFFFF"/>
                    </a:solid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Backup: within-dataset agreement in HSPC and four external systems</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Lag here: MultiVelo coupled-on duration vs MultiVeloVAE rate proxy, magnitude; the priming interval was recomputed in HSPC only.</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15</a:t>
            </a:r>
          </a:p>
        </p:txBody>
      </p:sp>
      <p:sp>
        <p:nvSpPr>
          <p:cNvPr id="6" name="body"/>
          <p:cNvSpPr txBox="1"/>
          <p:nvPr/>
        </p:nvSpPr>
        <p:spPr>
          <a:xfrm>
            <a:off x="502920" y="1557020"/>
            <a:ext cx="11186159" cy="365760"/>
          </a:xfrm>
          <a:prstGeom prst="rect">
            <a:avLst/>
          </a:prstGeom>
          <a:noFill/>
        </p:spPr>
        <p:txBody>
          <a:bodyPr wrap="square" lIns="18288" rIns="18288" tIns="18288" bIns="18288" anchor="t">
            <a:noAutofit/>
          </a:bodyPr>
          <a:lstStyle/>
          <a:p>
            <a:pPr algn="l">
              <a:spcAft>
                <a:spcPts val="400"/>
              </a:spcAft>
            </a:pPr>
            <a:r>
              <a:rPr sz="1700" b="0" lang="en-US">
                <a:solidFill>
                  <a:srgbClr val="172033"/>
                </a:solidFill>
                <a:latin typeface="Pretendard"/>
                <a:ea typeface="Pretendard"/>
                <a:cs typeface="Pretendard"/>
              </a:rPr>
              <a:t/>
            </a:r>
            <a:r>
              <a:rPr sz="1700" b="1" i="0" lang="en-US">
                <a:solidFill>
                  <a:srgbClr val="172033"/>
                </a:solidFill>
                <a:latin typeface="Pretendard"/>
                <a:ea typeface="Pretendard"/>
                <a:cs typeface="Pretendard"/>
              </a:rPr>
              <a:t>MultiVelo × MultiVeloVAE, α:    </a:t>
            </a:r>
            <a:r>
              <a:rPr sz="1700" b="1" i="0" lang="en-US">
                <a:solidFill>
                  <a:srgbClr val="1E7B34"/>
                </a:solidFill>
                <a:latin typeface="Pretendard"/>
                <a:ea typeface="Pretendard"/>
                <a:cs typeface="Pretendard"/>
              </a:rPr>
              <a:t>+0.882, +0.917, +0.898, +0.906, +0.953</a:t>
            </a:r>
          </a:p>
        </p:txBody>
      </p:sp>
      <p:sp>
        <p:nvSpPr>
          <p:cNvPr id="7" name="body"/>
          <p:cNvSpPr txBox="1"/>
          <p:nvPr/>
        </p:nvSpPr>
        <p:spPr>
          <a:xfrm>
            <a:off x="502920" y="1968500"/>
            <a:ext cx="11186159" cy="365760"/>
          </a:xfrm>
          <a:prstGeom prst="rect">
            <a:avLst/>
          </a:prstGeom>
          <a:noFill/>
        </p:spPr>
        <p:txBody>
          <a:bodyPr wrap="square" lIns="18288" rIns="18288" tIns="18288" bIns="18288" anchor="t">
            <a:noAutofit/>
          </a:bodyPr>
          <a:lstStyle/>
          <a:p>
            <a:pPr algn="l">
              <a:spcAft>
                <a:spcPts val="400"/>
              </a:spcAft>
            </a:pPr>
            <a:r>
              <a:rPr sz="1700" b="0" lang="en-US">
                <a:solidFill>
                  <a:srgbClr val="172033"/>
                </a:solidFill>
                <a:latin typeface="Pretendard"/>
                <a:ea typeface="Pretendard"/>
                <a:cs typeface="Pretendard"/>
              </a:rPr>
              <a:t/>
            </a:r>
            <a:r>
              <a:rPr sz="1700" b="1" i="0" lang="en-US">
                <a:solidFill>
                  <a:srgbClr val="172033"/>
                </a:solidFill>
                <a:latin typeface="Pretendard"/>
                <a:ea typeface="Pretendard"/>
                <a:cs typeface="Pretendard"/>
              </a:rPr>
              <a:t>MultiVelo × MultiVeloVAE, lag:  </a:t>
            </a:r>
            <a:r>
              <a:rPr sz="1700" b="1" i="0" lang="en-US">
                <a:solidFill>
                  <a:srgbClr val="B42318"/>
                </a:solidFill>
                <a:latin typeface="Pretendard"/>
                <a:ea typeface="Pretendard"/>
                <a:cs typeface="Pretendard"/>
              </a:rPr>
              <a:t>+0.163, +0.074, +0.057, −0.088, −0.026</a:t>
            </a:r>
            <a:r>
              <a:rPr sz="1400" b="0" i="0" lang="en-US">
                <a:solidFill>
                  <a:srgbClr val="526174"/>
                </a:solidFill>
                <a:latin typeface="Pretendard"/>
                <a:ea typeface="Pretendard"/>
                <a:cs typeface="Pretendard"/>
              </a:rPr>
              <a:t>     (HSPC, macrophage, E18 mouse brain, human BMMC, mouse gastrulation)</a:t>
            </a:r>
          </a:p>
        </p:txBody>
      </p:sp>
      <p:pic>
        <p:nvPicPr>
          <p:cNvPr id="8" name="fig-per-dataset" descr="figS01_per_dataset_concordance_crop.png"/>
          <p:cNvPicPr>
            <a:picLocks noChangeAspect="1"/>
          </p:cNvPicPr>
          <p:nvPr/>
        </p:nvPicPr>
        <p:blipFill>
          <a:blip r:embed="rId2"/>
          <a:stretch>
            <a:fillRect/>
          </a:stretch>
        </p:blipFill>
        <p:spPr>
          <a:xfrm>
            <a:off x="502920" y="2621091"/>
            <a:ext cx="11186159" cy="3630036"/>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show="0">
  <p:cSld>
    <p:bg>
      <p:bgPr>
        <a:solidFill>
          <a:srgbClr val="FFFFFF"/>
        </a:solidFill>
        <a:effectLst/>
      </p:bgPr>
    </p:bg>
    <p:spTree>
      <p:nvGrpSpPr>
        <p:cNvPr id="1" name=""/>
        <p:cNvGrpSpPr/>
        <p:nvPr/>
      </p:nvGrpSpPr>
      <p:grpSpPr/>
      <p:sp>
        <p:nvSpPr>
          <p:cNvPr id="2" name="title"/>
          <p:cNvSpPr>
            <a:spLocks noGrp="1"/>
          </p:cNvSpPr>
          <p:nvPr>
            <p:ph type="title"/>
          </p:nvPr>
        </p:nvSpPr>
        <p:spPr>
          <a:xfrm>
            <a:off x="502920" y="365760"/>
            <a:ext cx="11186159" cy="1090676"/>
          </a:xfrm>
        </p:spPr>
        <p:txBody>
          <a:bodyPr wrap="square" lIns="18288" rIns="18288" tIns="18288" bIns="18288" anchor="t">
            <a:noAutofit/>
          </a:bodyPr>
          <a:lstStyle/>
          <a:p>
            <a:pPr algn="l">
              <a:spcAft>
                <a:spcPts val="400"/>
              </a:spcAft>
            </a:pPr>
            <a:r>
              <a:rPr sz="3000" b="1" lang="en-US">
                <a:solidFill>
                  <a:srgbClr val="172033"/>
                </a:solidFill>
                <a:latin typeface="Pretendard"/>
                <a:ea typeface="Pretendard"/>
                <a:cs typeface="Pretendard"/>
              </a:rPr>
              <a:t>Backup: the six predictions sealed before fitting mouse gastrulation</a:t>
            </a:r>
          </a:p>
        </p:txBody>
      </p:sp>
      <p:sp>
        <p:nvSpPr>
          <p:cNvPr id="3" name="title-accent"/>
          <p:cNvSpPr/>
          <p:nvPr/>
        </p:nvSpPr>
        <p:spPr>
          <a:xfrm>
            <a:off x="502920" y="1511300"/>
            <a:ext cx="566928" cy="41148"/>
          </a:xfrm>
          <a:prstGeom prst="rect">
            <a:avLst/>
          </a:prstGeom>
          <a:solidFill>
            <a:srgbClr val="2457C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citation"/>
          <p:cNvSpPr txBox="1"/>
          <p:nvPr/>
        </p:nvSpPr>
        <p:spPr>
          <a:xfrm>
            <a:off x="502920" y="6492240"/>
            <a:ext cx="10546079" cy="256032"/>
          </a:xfrm>
          <a:prstGeom prst="rect">
            <a:avLst/>
          </a:prstGeom>
          <a:noFill/>
        </p:spPr>
        <p:txBody>
          <a:bodyPr wrap="square" lIns="18288" rIns="18288" tIns="18288" bIns="18288" anchor="t">
            <a:noAutofit/>
          </a:bodyPr>
          <a:lstStyle/>
          <a:p>
            <a:pPr algn="l">
              <a:spcAft>
                <a:spcPts val="400"/>
              </a:spcAft>
            </a:pPr>
            <a:r>
              <a:rPr sz="1200" b="0" lang="en-US">
                <a:solidFill>
                  <a:srgbClr val="526174"/>
                </a:solidFill>
                <a:latin typeface="Pretendard"/>
                <a:ea typeface="Pretendard"/>
                <a:cs typeface="Pretendard"/>
              </a:rPr>
              <a:t>Preregistration sealed 2026-07-12, before any fit on GSE205117; the pass lines are the sealed thresholds, not HSPC observations.</a:t>
            </a:r>
          </a:p>
        </p:txBody>
      </p:sp>
      <p:sp>
        <p:nvSpPr>
          <p:cNvPr id="5" name="slide-number"/>
          <p:cNvSpPr txBox="1"/>
          <p:nvPr/>
        </p:nvSpPr>
        <p:spPr>
          <a:xfrm>
            <a:off x="11231878" y="6492240"/>
            <a:ext cx="457200" cy="256032"/>
          </a:xfrm>
          <a:prstGeom prst="rect">
            <a:avLst/>
          </a:prstGeom>
          <a:noFill/>
        </p:spPr>
        <p:txBody>
          <a:bodyPr wrap="square" lIns="18288" rIns="18288" tIns="18288" bIns="18288" anchor="t">
            <a:noAutofit/>
          </a:bodyPr>
          <a:lstStyle/>
          <a:p>
            <a:pPr algn="r">
              <a:spcAft>
                <a:spcPts val="400"/>
              </a:spcAft>
            </a:pPr>
            <a:r>
              <a:rPr sz="1200" b="0" lang="en-US">
                <a:solidFill>
                  <a:srgbClr val="526174"/>
                </a:solidFill>
                <a:latin typeface="Pretendard"/>
                <a:ea typeface="Pretendard"/>
                <a:cs typeface="Pretendard"/>
              </a:rPr>
              <a:t>16</a:t>
            </a:r>
          </a:p>
        </p:txBody>
      </p:sp>
      <p:graphicFrame>
        <p:nvGraphicFramePr>
          <p:cNvPr id="6" name="table"/>
          <p:cNvGraphicFramePr>
            <a:graphicFrameLocks noGrp="1"/>
          </p:cNvGraphicFramePr>
          <p:nvPr/>
        </p:nvGraphicFramePr>
        <p:xfrm>
          <a:off x="502920" y="1785620"/>
          <a:ext cx="11183112" cy="4023360"/>
        </p:xfrm>
        <a:graphic>
          <a:graphicData uri="http://schemas.openxmlformats.org/drawingml/2006/table">
            <a:tbl>
              <a:tblPr firstRow="1" bandRow="1">
                <a:tableStyleId>{5C22544A-7EE6-4342-B048-85BDC9FD1C3A}</a:tableStyleId>
              </a:tblPr>
              <a:tblGrid>
                <a:gridCol w="502920"/>
                <a:gridCol w="3840480"/>
                <a:gridCol w="2377440"/>
                <a:gridCol w="3291840"/>
                <a:gridCol w="1170432"/>
              </a:tblGrid>
              <a:tr h="574765">
                <a:tc>
                  <a:txBody>
                    <a:bodyPr wrap="square"/>
                    <a:lstStyle/>
                    <a:p>
                      <a:pPr algn="l"/>
                      <a:r>
                        <a:rPr sz="1600" b="1" lang="en-US">
                          <a:solidFill>
                            <a:srgbClr val="FFFFFF"/>
                          </a:solidFill>
                          <a:latin typeface="Pretendard"/>
                          <a:ea typeface="Pretendard"/>
                          <a:cs typeface="Pretendard"/>
                        </a:rPr>
                        <a:t>#</a:t>
                      </a:r>
                    </a:p>
                  </a:txBody>
                  <a:tcPr marL="73152" marR="73152" marT="36576" marB="36576" anchor="ctr">
                    <a:solidFill>
                      <a:srgbClr val="2457C5"/>
                    </a:solidFill>
                  </a:tcPr>
                </a:tc>
                <a:tc>
                  <a:txBody>
                    <a:bodyPr wrap="square"/>
                    <a:lstStyle/>
                    <a:p>
                      <a:pPr algn="l"/>
                      <a:r>
                        <a:rPr sz="1600" b="1" lang="en-US">
                          <a:solidFill>
                            <a:srgbClr val="FFFFFF"/>
                          </a:solidFill>
                          <a:latin typeface="Pretendard"/>
                          <a:ea typeface="Pretendard"/>
                          <a:cs typeface="Pretendard"/>
                        </a:rPr>
                        <a:t>Prediction</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Sealed threshold</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Observed</a:t>
                      </a:r>
                    </a:p>
                  </a:txBody>
                  <a:tcPr marL="73152" marR="73152" marT="36576" marB="36576" anchor="ctr">
                    <a:solidFill>
                      <a:srgbClr val="2457C5"/>
                    </a:solidFill>
                  </a:tcPr>
                </a:tc>
                <a:tc>
                  <a:txBody>
                    <a:bodyPr wrap="square"/>
                    <a:lstStyle/>
                    <a:p>
                      <a:pPr algn="ctr"/>
                      <a:r>
                        <a:rPr sz="1600" b="1" lang="en-US">
                          <a:solidFill>
                            <a:srgbClr val="FFFFFF"/>
                          </a:solidFill>
                          <a:latin typeface="Pretendard"/>
                          <a:ea typeface="Pretendard"/>
                          <a:cs typeface="Pretendard"/>
                        </a:rPr>
                        <a:t>Result</a:t>
                      </a:r>
                    </a:p>
                  </a:txBody>
                  <a:tcPr marL="73152" marR="73152" marT="36576" marB="36576" anchor="ctr">
                    <a:solidFill>
                      <a:srgbClr val="2457C5"/>
                    </a:solidFill>
                  </a:tcPr>
                </a:tc>
              </a:tr>
              <a:tr h="574765">
                <a:tc>
                  <a:txBody>
                    <a:bodyPr wrap="square"/>
                    <a:lstStyle/>
                    <a:p>
                      <a:pPr algn="l"/>
                      <a:r>
                        <a:rPr sz="1600" b="1" lang="en-US">
                          <a:solidFill>
                            <a:srgbClr val="172033"/>
                          </a:solidFill>
                          <a:latin typeface="Pretendard"/>
                          <a:ea typeface="Pretendard"/>
                          <a:cs typeface="Pretendard"/>
                        </a:rPr>
                        <a:t>1</a:t>
                      </a:r>
                    </a:p>
                  </a:txBody>
                  <a:tcPr marL="73152" marR="73152" marT="36576" marB="36576" anchor="ctr">
                    <a:solidFill>
                      <a:srgbClr val="FFFFFF"/>
                    </a:solidFill>
                  </a:tcPr>
                </a:tc>
                <a:tc>
                  <a:txBody>
                    <a:bodyPr wrap="square"/>
                    <a:lstStyle/>
                    <a:p>
                      <a:pPr algn="l"/>
                      <a:r>
                        <a:rPr sz="1600" b="0" lang="en-US">
                          <a:solidFill>
                            <a:srgbClr val="172033"/>
                          </a:solidFill>
                          <a:latin typeface="Pretendard"/>
                          <a:ea typeface="Pretendard"/>
                          <a:cs typeface="Pretendard"/>
                        </a:rPr>
                        <a:t>Within-dataset α reproduces</a:t>
                      </a:r>
                    </a:p>
                  </a:txBody>
                  <a:tcPr marL="73152" marR="73152" marT="36576" marB="36576" anchor="ctr">
                    <a:solidFill>
                      <a:srgbClr val="FFFFFF"/>
                    </a:solidFill>
                  </a:tcPr>
                </a:tc>
                <a:tc>
                  <a:txBody>
                    <a:bodyPr wrap="square"/>
                    <a:lstStyle/>
                    <a:p>
                      <a:pPr algn="ctr"/>
                      <a:r>
                        <a:rPr sz="1600" b="0" lang="en-US">
                          <a:solidFill>
                            <a:srgbClr val="172033"/>
                          </a:solidFill>
                          <a:latin typeface="Pretendard"/>
                          <a:ea typeface="Pretendard"/>
                          <a:cs typeface="Pretendard"/>
                        </a:rPr>
                        <a:t>ρ ≥ 0.50</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+0.927 (median of 3 pairs)</a:t>
                      </a:r>
                    </a:p>
                  </a:txBody>
                  <a:tcPr marL="73152" marR="73152" marT="36576" marB="36576" anchor="ctr">
                    <a:solidFill>
                      <a:srgbClr val="FFFFFF"/>
                    </a:solidFill>
                  </a:tcPr>
                </a:tc>
                <a:tc>
                  <a:txBody>
                    <a:bodyPr wrap="square"/>
                    <a:lstStyle/>
                    <a:p>
                      <a:pPr algn="ctr"/>
                      <a:r>
                        <a:rPr sz="1800" b="1" lang="en-US">
                          <a:solidFill>
                            <a:srgbClr val="1E7B34"/>
                          </a:solidFill>
                          <a:latin typeface="Pretendard"/>
                          <a:ea typeface="Pretendard"/>
                          <a:cs typeface="Pretendard"/>
                        </a:rPr>
                        <a:t>Pass</a:t>
                      </a:r>
                    </a:p>
                  </a:txBody>
                  <a:tcPr marL="73152" marR="73152" marT="36576" marB="36576" anchor="ctr">
                    <a:solidFill>
                      <a:srgbClr val="FFFFFF"/>
                    </a:solidFill>
                  </a:tcPr>
                </a:tc>
              </a:tr>
              <a:tr h="574765">
                <a:tc>
                  <a:txBody>
                    <a:bodyPr wrap="square"/>
                    <a:lstStyle/>
                    <a:p>
                      <a:pPr algn="l"/>
                      <a:r>
                        <a:rPr sz="1600" b="1" lang="en-US">
                          <a:solidFill>
                            <a:srgbClr val="172033"/>
                          </a:solidFill>
                          <a:latin typeface="Pretendard"/>
                          <a:ea typeface="Pretendard"/>
                          <a:cs typeface="Pretendard"/>
                        </a:rPr>
                        <a:t>2</a:t>
                      </a:r>
                    </a:p>
                  </a:txBody>
                  <a:tcPr marL="73152" marR="73152" marT="36576" marB="36576" anchor="ctr">
                    <a:solidFill>
                      <a:srgbClr val="F8FAFD"/>
                    </a:solidFill>
                  </a:tcPr>
                </a:tc>
                <a:tc>
                  <a:txBody>
                    <a:bodyPr wrap="square"/>
                    <a:lstStyle/>
                    <a:p>
                      <a:pPr algn="l"/>
                      <a:r>
                        <a:rPr sz="1600" b="0" lang="en-US">
                          <a:solidFill>
                            <a:srgbClr val="172033"/>
                          </a:solidFill>
                          <a:latin typeface="Pretendard"/>
                          <a:ea typeface="Pretendard"/>
                          <a:cs typeface="Pretendard"/>
                        </a:rPr>
                        <a:t>Within-dataset lag does not</a:t>
                      </a:r>
                    </a:p>
                  </a:txBody>
                  <a:tcPr marL="73152" marR="73152" marT="36576" marB="36576" anchor="ctr">
                    <a:solidFill>
                      <a:srgbClr val="F8FAFD"/>
                    </a:solidFill>
                  </a:tcPr>
                </a:tc>
                <a:tc>
                  <a:txBody>
                    <a:bodyPr wrap="square"/>
                    <a:lstStyle/>
                    <a:p>
                      <a:pPr algn="ctr"/>
                      <a:r>
                        <a:rPr sz="1600" b="0" lang="en-US">
                          <a:solidFill>
                            <a:srgbClr val="172033"/>
                          </a:solidFill>
                          <a:latin typeface="Pretendard"/>
                          <a:ea typeface="Pretendard"/>
                          <a:cs typeface="Pretendard"/>
                        </a:rPr>
                        <a:t>ρ ≤ 0.15</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−0.026</a:t>
                      </a:r>
                    </a:p>
                  </a:txBody>
                  <a:tcPr marL="73152" marR="73152" marT="36576" marB="36576" anchor="ctr">
                    <a:solidFill>
                      <a:srgbClr val="F8FAFD"/>
                    </a:solidFill>
                  </a:tcPr>
                </a:tc>
                <a:tc>
                  <a:txBody>
                    <a:bodyPr wrap="square"/>
                    <a:lstStyle/>
                    <a:p>
                      <a:pPr algn="ctr"/>
                      <a:r>
                        <a:rPr sz="1800" b="1" lang="en-US">
                          <a:solidFill>
                            <a:srgbClr val="1E7B34"/>
                          </a:solidFill>
                          <a:latin typeface="Pretendard"/>
                          <a:ea typeface="Pretendard"/>
                          <a:cs typeface="Pretendard"/>
                        </a:rPr>
                        <a:t>Pass</a:t>
                      </a:r>
                    </a:p>
                  </a:txBody>
                  <a:tcPr marL="73152" marR="73152" marT="36576" marB="36576" anchor="ctr">
                    <a:solidFill>
                      <a:srgbClr val="F8FAFD"/>
                    </a:solidFill>
                  </a:tcPr>
                </a:tc>
              </a:tr>
              <a:tr h="574765">
                <a:tc>
                  <a:txBody>
                    <a:bodyPr wrap="square"/>
                    <a:lstStyle/>
                    <a:p>
                      <a:pPr algn="l"/>
                      <a:r>
                        <a:rPr sz="1600" b="1" lang="en-US">
                          <a:solidFill>
                            <a:srgbClr val="172033"/>
                          </a:solidFill>
                          <a:latin typeface="Pretendard"/>
                          <a:ea typeface="Pretendard"/>
                          <a:cs typeface="Pretendard"/>
                        </a:rPr>
                        <a:t>3</a:t>
                      </a:r>
                    </a:p>
                  </a:txBody>
                  <a:tcPr marL="73152" marR="73152" marT="36576" marB="36576" anchor="ctr">
                    <a:solidFill>
                      <a:srgbClr val="FFFFFF"/>
                    </a:solidFill>
                  </a:tcPr>
                </a:tc>
                <a:tc>
                  <a:txBody>
                    <a:bodyPr wrap="square"/>
                    <a:lstStyle/>
                    <a:p>
                      <a:pPr algn="l"/>
                      <a:r>
                        <a:rPr sz="1600" b="0" lang="en-US">
                          <a:solidFill>
                            <a:srgbClr val="172033"/>
                          </a:solidFill>
                          <a:latin typeface="Pretendard"/>
                          <a:ea typeface="Pretendard"/>
                          <a:cs typeface="Pretendard"/>
                        </a:rPr>
                        <a:t>α over lag</a:t>
                      </a:r>
                    </a:p>
                  </a:txBody>
                  <a:tcPr marL="73152" marR="73152" marT="36576" marB="36576" anchor="ctr">
                    <a:solidFill>
                      <a:srgbClr val="FFFFFF"/>
                    </a:solidFill>
                  </a:tcPr>
                </a:tc>
                <a:tc>
                  <a:txBody>
                    <a:bodyPr wrap="square"/>
                    <a:lstStyle/>
                    <a:p>
                      <a:pPr algn="ctr"/>
                      <a:r>
                        <a:rPr sz="1600" b="0" lang="en-US">
                          <a:solidFill>
                            <a:srgbClr val="172033"/>
                          </a:solidFill>
                          <a:latin typeface="Pretendard"/>
                          <a:ea typeface="Pretendard"/>
                          <a:cs typeface="Pretendard"/>
                        </a:rPr>
                        <a:t>Δρ ≥ 0.35</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+0.979</a:t>
                      </a:r>
                    </a:p>
                  </a:txBody>
                  <a:tcPr marL="73152" marR="73152" marT="36576" marB="36576" anchor="ctr">
                    <a:solidFill>
                      <a:srgbClr val="FFFFFF"/>
                    </a:solidFill>
                  </a:tcPr>
                </a:tc>
                <a:tc>
                  <a:txBody>
                    <a:bodyPr wrap="square"/>
                    <a:lstStyle/>
                    <a:p>
                      <a:pPr algn="ctr"/>
                      <a:r>
                        <a:rPr sz="1800" b="1" lang="en-US">
                          <a:solidFill>
                            <a:srgbClr val="1E7B34"/>
                          </a:solidFill>
                          <a:latin typeface="Pretendard"/>
                          <a:ea typeface="Pretendard"/>
                          <a:cs typeface="Pretendard"/>
                        </a:rPr>
                        <a:t>Pass</a:t>
                      </a:r>
                    </a:p>
                  </a:txBody>
                  <a:tcPr marL="73152" marR="73152" marT="36576" marB="36576" anchor="ctr">
                    <a:solidFill>
                      <a:srgbClr val="FFFFFF"/>
                    </a:solidFill>
                  </a:tcPr>
                </a:tc>
              </a:tr>
              <a:tr h="574765">
                <a:tc>
                  <a:txBody>
                    <a:bodyPr wrap="square"/>
                    <a:lstStyle/>
                    <a:p>
                      <a:pPr algn="l"/>
                      <a:r>
                        <a:rPr sz="1600" b="1" lang="en-US">
                          <a:solidFill>
                            <a:srgbClr val="172033"/>
                          </a:solidFill>
                          <a:latin typeface="Pretendard"/>
                          <a:ea typeface="Pretendard"/>
                          <a:cs typeface="Pretendard"/>
                        </a:rPr>
                        <a:t>4</a:t>
                      </a:r>
                    </a:p>
                  </a:txBody>
                  <a:tcPr marL="73152" marR="73152" marT="36576" marB="36576" anchor="ctr">
                    <a:solidFill>
                      <a:srgbClr val="F8FAFD"/>
                    </a:solidFill>
                  </a:tcPr>
                </a:tc>
                <a:tc>
                  <a:txBody>
                    <a:bodyPr wrap="square"/>
                    <a:lstStyle/>
                    <a:p>
                      <a:pPr algn="l"/>
                      <a:r>
                        <a:rPr sz="1600" b="0" lang="en-US">
                          <a:solidFill>
                            <a:srgbClr val="172033"/>
                          </a:solidFill>
                          <a:latin typeface="Pretendard"/>
                          <a:ea typeface="Pretendard"/>
                          <a:cs typeface="Pretendard"/>
                        </a:rPr>
                        <a:t>Cross-dataset HSPC ↔ gastrulation</a:t>
                      </a:r>
                    </a:p>
                  </a:txBody>
                  <a:tcPr marL="73152" marR="73152" marT="36576" marB="36576" anchor="ctr">
                    <a:solidFill>
                      <a:srgbClr val="F8FAFD"/>
                    </a:solidFill>
                  </a:tcPr>
                </a:tc>
                <a:tc>
                  <a:txBody>
                    <a:bodyPr wrap="square"/>
                    <a:lstStyle/>
                    <a:p>
                      <a:pPr algn="ctr"/>
                      <a:r>
                        <a:rPr sz="1600" b="0" lang="en-US">
                          <a:solidFill>
                            <a:srgbClr val="172033"/>
                          </a:solidFill>
                          <a:latin typeface="Pretendard"/>
                          <a:ea typeface="Pretendard"/>
                          <a:cs typeface="Pretendard"/>
                        </a:rPr>
                        <a:t>α &gt; +0.20 and α &gt; lag</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+0.415 vs +0.028</a:t>
                      </a:r>
                    </a:p>
                  </a:txBody>
                  <a:tcPr marL="73152" marR="73152" marT="36576" marB="36576" anchor="ctr">
                    <a:solidFill>
                      <a:srgbClr val="F8FAFD"/>
                    </a:solidFill>
                  </a:tcPr>
                </a:tc>
                <a:tc>
                  <a:txBody>
                    <a:bodyPr wrap="square"/>
                    <a:lstStyle/>
                    <a:p>
                      <a:pPr algn="ctr"/>
                      <a:r>
                        <a:rPr sz="1800" b="1" lang="en-US">
                          <a:solidFill>
                            <a:srgbClr val="1E7B34"/>
                          </a:solidFill>
                          <a:latin typeface="Pretendard"/>
                          <a:ea typeface="Pretendard"/>
                          <a:cs typeface="Pretendard"/>
                        </a:rPr>
                        <a:t>Pass</a:t>
                      </a:r>
                    </a:p>
                  </a:txBody>
                  <a:tcPr marL="73152" marR="73152" marT="36576" marB="36576" anchor="ctr">
                    <a:solidFill>
                      <a:srgbClr val="F8FAFD"/>
                    </a:solidFill>
                  </a:tcPr>
                </a:tc>
              </a:tr>
              <a:tr h="574765">
                <a:tc>
                  <a:txBody>
                    <a:bodyPr wrap="square"/>
                    <a:lstStyle/>
                    <a:p>
                      <a:pPr algn="l"/>
                      <a:r>
                        <a:rPr sz="1600" b="1" lang="en-US">
                          <a:solidFill>
                            <a:srgbClr val="172033"/>
                          </a:solidFill>
                          <a:latin typeface="Pretendard"/>
                          <a:ea typeface="Pretendard"/>
                          <a:cs typeface="Pretendard"/>
                        </a:rPr>
                        <a:t>5</a:t>
                      </a:r>
                    </a:p>
                  </a:txBody>
                  <a:tcPr marL="73152" marR="73152" marT="36576" marB="36576" anchor="ctr">
                    <a:solidFill>
                      <a:srgbClr val="FFFFFF"/>
                    </a:solidFill>
                  </a:tcPr>
                </a:tc>
                <a:tc>
                  <a:txBody>
                    <a:bodyPr wrap="square"/>
                    <a:lstStyle/>
                    <a:p>
                      <a:pPr algn="l"/>
                      <a:r>
                        <a:rPr sz="1600" b="0" lang="en-US">
                          <a:solidFill>
                            <a:srgbClr val="172033"/>
                          </a:solidFill>
                          <a:latin typeface="Pretendard"/>
                          <a:ea typeface="Pretendard"/>
                          <a:cs typeface="Pretendard"/>
                        </a:rPr>
                        <a:t>Per-gene disagreement larger for lag (MV × MoFlow) than α (MV × VAE)</a:t>
                      </a:r>
                    </a:p>
                  </a:txBody>
                  <a:tcPr marL="73152" marR="73152" marT="36576" marB="36576" anchor="ctr">
                    <a:solidFill>
                      <a:srgbClr val="FFFFFF"/>
                    </a:solidFill>
                  </a:tcPr>
                </a:tc>
                <a:tc>
                  <a:txBody>
                    <a:bodyPr wrap="square"/>
                    <a:lstStyle/>
                    <a:p>
                      <a:pPr algn="ctr"/>
                      <a:r>
                        <a:rPr sz="1600" b="0" lang="en-US">
                          <a:solidFill>
                            <a:srgbClr val="172033"/>
                          </a:solidFill>
                          <a:latin typeface="Pretendard"/>
                          <a:ea typeface="Pretendard"/>
                          <a:cs typeface="Pretendard"/>
                        </a:rPr>
                        <a:t>lag &gt; α</a:t>
                      </a:r>
                    </a:p>
                  </a:txBody>
                  <a:tcPr marL="73152" marR="73152" marT="36576" marB="36576" anchor="ctr">
                    <a:solidFill>
                      <a:srgbClr val="FFFFFF"/>
                    </a:solidFill>
                  </a:tcPr>
                </a:tc>
                <a:tc>
                  <a:txBody>
                    <a:bodyPr wrap="square"/>
                    <a:lstStyle/>
                    <a:p>
                      <a:pPr algn="ctr"/>
                      <a:r>
                        <a:rPr sz="1800" b="0" lang="en-US">
                          <a:solidFill>
                            <a:srgbClr val="172033"/>
                          </a:solidFill>
                          <a:latin typeface="Pretendard"/>
                          <a:ea typeface="Pretendard"/>
                          <a:cs typeface="Pretendard"/>
                        </a:rPr>
                        <a:t>0.294 vs 0.052</a:t>
                      </a:r>
                    </a:p>
                  </a:txBody>
                  <a:tcPr marL="73152" marR="73152" marT="36576" marB="36576" anchor="ctr">
                    <a:solidFill>
                      <a:srgbClr val="FFFFFF"/>
                    </a:solidFill>
                  </a:tcPr>
                </a:tc>
                <a:tc>
                  <a:txBody>
                    <a:bodyPr wrap="square"/>
                    <a:lstStyle/>
                    <a:p>
                      <a:pPr algn="ctr"/>
                      <a:r>
                        <a:rPr sz="1800" b="1" lang="en-US">
                          <a:solidFill>
                            <a:srgbClr val="1E7B34"/>
                          </a:solidFill>
                          <a:latin typeface="Pretendard"/>
                          <a:ea typeface="Pretendard"/>
                          <a:cs typeface="Pretendard"/>
                        </a:rPr>
                        <a:t>Pass</a:t>
                      </a:r>
                    </a:p>
                  </a:txBody>
                  <a:tcPr marL="73152" marR="73152" marT="36576" marB="36576" anchor="ctr">
                    <a:solidFill>
                      <a:srgbClr val="FFFFFF"/>
                    </a:solidFill>
                  </a:tcPr>
                </a:tc>
              </a:tr>
              <a:tr h="574770">
                <a:tc>
                  <a:txBody>
                    <a:bodyPr wrap="square"/>
                    <a:lstStyle/>
                    <a:p>
                      <a:pPr algn="l"/>
                      <a:r>
                        <a:rPr sz="1600" b="1" lang="en-US">
                          <a:solidFill>
                            <a:srgbClr val="172033"/>
                          </a:solidFill>
                          <a:latin typeface="Pretendard"/>
                          <a:ea typeface="Pretendard"/>
                          <a:cs typeface="Pretendard"/>
                        </a:rPr>
                        <a:t>6</a:t>
                      </a:r>
                    </a:p>
                  </a:txBody>
                  <a:tcPr marL="73152" marR="73152" marT="36576" marB="36576" anchor="ctr">
                    <a:solidFill>
                      <a:srgbClr val="F8FAFD"/>
                    </a:solidFill>
                  </a:tcPr>
                </a:tc>
                <a:tc>
                  <a:txBody>
                    <a:bodyPr wrap="square"/>
                    <a:lstStyle/>
                    <a:p>
                      <a:pPr algn="l"/>
                      <a:r>
                        <a:rPr sz="1600" b="0" lang="en-US">
                          <a:solidFill>
                            <a:srgbClr val="172033"/>
                          </a:solidFill>
                          <a:latin typeface="Pretendard"/>
                          <a:ea typeface="Pretendard"/>
                          <a:cs typeface="Pretendard"/>
                        </a:rPr>
                        <a:t>Lag fragile even at maximal priming</a:t>
                      </a:r>
                    </a:p>
                  </a:txBody>
                  <a:tcPr marL="73152" marR="73152" marT="36576" marB="36576" anchor="ctr">
                    <a:solidFill>
                      <a:srgbClr val="F8FAFD"/>
                    </a:solidFill>
                  </a:tcPr>
                </a:tc>
                <a:tc>
                  <a:txBody>
                    <a:bodyPr wrap="square"/>
                    <a:lstStyle/>
                    <a:p>
                      <a:pPr algn="ctr"/>
                      <a:r>
                        <a:rPr sz="1600" b="0" lang="en-US">
                          <a:solidFill>
                            <a:srgbClr val="172033"/>
                          </a:solidFill>
                          <a:latin typeface="Pretendard"/>
                          <a:ea typeface="Pretendard"/>
                          <a:cs typeface="Pretendard"/>
                        </a:rPr>
                        <a:t>2 and 3 hold</a:t>
                      </a:r>
                    </a:p>
                  </a:txBody>
                  <a:tcPr marL="73152" marR="73152" marT="36576" marB="36576" anchor="ctr">
                    <a:solidFill>
                      <a:srgbClr val="F8FAFD"/>
                    </a:solidFill>
                  </a:tcPr>
                </a:tc>
                <a:tc>
                  <a:txBody>
                    <a:bodyPr wrap="square"/>
                    <a:lstStyle/>
                    <a:p>
                      <a:pPr algn="ctr"/>
                      <a:r>
                        <a:rPr sz="1800" b="0" lang="en-US">
                          <a:solidFill>
                            <a:srgbClr val="172033"/>
                          </a:solidFill>
                          <a:latin typeface="Pretendard"/>
                          <a:ea typeface="Pretendard"/>
                          <a:cs typeface="Pretendard"/>
                        </a:rPr>
                        <a:t>both hold</a:t>
                      </a:r>
                    </a:p>
                  </a:txBody>
                  <a:tcPr marL="73152" marR="73152" marT="36576" marB="36576" anchor="ctr">
                    <a:solidFill>
                      <a:srgbClr val="F8FAFD"/>
                    </a:solidFill>
                  </a:tcPr>
                </a:tc>
                <a:tc>
                  <a:txBody>
                    <a:bodyPr wrap="square"/>
                    <a:lstStyle/>
                    <a:p>
                      <a:pPr algn="ctr"/>
                      <a:r>
                        <a:rPr sz="1800" b="1" lang="en-US">
                          <a:solidFill>
                            <a:srgbClr val="1E7B34"/>
                          </a:solidFill>
                          <a:latin typeface="Pretendard"/>
                          <a:ea typeface="Pretendard"/>
                          <a:cs typeface="Pretendard"/>
                        </a:rPr>
                        <a:t>Pass</a:t>
                      </a:r>
                    </a:p>
                  </a:txBody>
                  <a:tcPr marL="73152" marR="73152" marT="36576" marB="36576" anchor="ctr">
                    <a:solidFill>
                      <a:srgbClr val="F8FAFD"/>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